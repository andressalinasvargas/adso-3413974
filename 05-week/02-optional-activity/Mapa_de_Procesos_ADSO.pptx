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7FA9E-FB26-4693-A199-3D5B3231E435}" v="11" dt="2026-03-21T14:49:04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7FF65-163F-45B6-934B-5FBAC211E4B4}" type="datetimeFigureOut">
              <a:t>21/03/2026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F5B1D-8073-4000-8237-FAEEB79445F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98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D2BD"/>
                </a:solidFill>
              </a:rPr>
              <a:t>GESTIÓN POR PROCESOS · ISO 9001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Guía para </a:t>
            </a:r>
            <a:r>
              <a:rPr lang="en-US" sz="1600" dirty="0" err="1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organizaciones</a:t>
            </a:r>
            <a:r>
              <a:rPr lang="en-US" sz="1600" dirty="0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 del sector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de </a:t>
            </a:r>
            <a:r>
              <a:rPr lang="en-US" sz="1600" dirty="0" err="1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desarrollo</a:t>
            </a:r>
            <a:r>
              <a:rPr lang="en-US" sz="1600" dirty="0">
                <a:solidFill>
                  <a:srgbClr val="94D2BD"/>
                </a:solidFill>
                <a:latin typeface="Calibri"/>
                <a:ea typeface="Calibri"/>
                <a:cs typeface="Calibri"/>
              </a:rPr>
              <a:t> de software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Proyecto ADSO  ·  Análisis y Desarrollo de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Mapa de Procesos?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3291840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gráfica de todos los procesos de una organización, mostrando sus interrelaciones y cómo contribuyen a la creación de valor para el cliente.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visualizar: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global de la organización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áreas y departamentos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entradas y salidas (inputs/outputs)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mejora continua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EE9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con ISO 9001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ISO 9001 exige el enfoque basado en procesos como base del Sistema de Gestión de Calidad (SGC). El mapa de procesos es su representación visual fundamental.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28803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880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8803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65760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EE9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657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365760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CA67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657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Ciclo PHVA (Mejora Continua)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Jerárquica del Mapa de Procesos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52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ESTRATÉGICOS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· Planeación · Gestión de Calidad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95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MISIONALES / CLAVE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· Diseño · Desarrollo · Pruebas · Entrega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813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APOYO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· Tecnología · Finanzas · Soporte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 rot="5400000">
            <a:off x="-11887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CLIENTES / PARTES INTERESADAS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1143000"/>
            <a:ext cx="164592" cy="3474720"/>
          </a:xfrm>
          <a:prstGeom prst="rect">
            <a:avLst/>
          </a:prstGeom>
          <a:solidFill>
            <a:srgbClr val="0A939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5400000">
            <a:off x="18288" y="201168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65A82"/>
                </a:solidFill>
              </a:rPr>
              <a:t>↑ Dirección estratégica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Estratégicos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9436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y Liderazgo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visión y misión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estratégica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 corporativas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riesgo organizacional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7889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Estratégica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 de objetivos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recursos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KPIs y métricas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la dirección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43000"/>
            <a:ext cx="2788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ISO 9001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internas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no conformidades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 y preventivas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Los procesos estratégicos orientan y controlan toda la organización, proporcionando las directrices para los procesos misionales y de apoyo.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94D2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Misionales / Clave — Cadena de Valor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de requisitos, casos de uso, historias de usuario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331720"/>
            <a:ext cx="10972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1188720"/>
            <a:ext cx="15544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298448"/>
            <a:ext cx="502920" cy="502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29968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48256" y="233172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software, modelos de datos, prototipado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93008" y="2331720"/>
            <a:ext cx="10972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1188720"/>
            <a:ext cx="15544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05656" y="1298448"/>
            <a:ext cx="502920" cy="502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94176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12464" y="233172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Codificación, integración, control de versiones (Git)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57216" y="2331720"/>
            <a:ext cx="10972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1188720"/>
            <a:ext cx="15544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9864" y="1298448"/>
            <a:ext cx="502920" cy="502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58384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233172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unitario, integración, regresión, UAT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1424" y="2331720"/>
            <a:ext cx="10972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31152" y="1188720"/>
            <a:ext cx="15544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34072" y="1298448"/>
            <a:ext cx="502920" cy="50292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22592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233172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documentación, capacitación, soporte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86200"/>
            <a:ext cx="8229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886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3886200"/>
            <a:ext cx="82296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46720" y="3886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ENTREGA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97280" y="4114800"/>
            <a:ext cx="694944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Flujo de valor hacia el cliente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CA67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Apoyo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06908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y contratación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desarrollo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desempeño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organizacional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70432"/>
            <a:ext cx="40690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43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Infraestructura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servidores y nube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informática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de software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interno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72384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72384"/>
            <a:ext cx="4069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Financiera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costos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pagos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contable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financieros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72384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72384"/>
            <a:ext cx="40690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al Cliente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621024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ayuda (Help Desk)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postventa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cliente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Entradas y Salidas (Inputs / Outputs)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2468880"/>
            <a:ext cx="8686800" cy="109728"/>
          </a:xfrm>
          <a:prstGeom prst="rect">
            <a:avLst/>
          </a:prstGeom>
          <a:solidFill>
            <a:srgbClr val="0A939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1691640" cy="265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9659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2423160"/>
            <a:ext cx="18288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188720"/>
            <a:ext cx="1600200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75688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48456" y="2423160"/>
            <a:ext cx="18288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9896" y="1188720"/>
            <a:ext cx="1600200" cy="2651760"/>
          </a:xfrm>
          <a:prstGeom prst="rect">
            <a:avLst/>
          </a:prstGeom>
          <a:solidFill>
            <a:srgbClr val="0A939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5616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3048" y="19659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2423160"/>
            <a:ext cx="18288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9824" y="1188720"/>
            <a:ext cx="1600200" cy="2651760"/>
          </a:xfrm>
          <a:prstGeom prst="rect">
            <a:avLst/>
          </a:prstGeom>
          <a:solidFill>
            <a:srgbClr val="EE9B0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298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22976" y="19659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68312" y="2423160"/>
            <a:ext cx="182880" cy="201168"/>
          </a:xfrm>
          <a:prstGeom prst="rect">
            <a:avLst/>
          </a:prstGeom>
          <a:solidFill>
            <a:srgbClr val="94D2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188720"/>
            <a:ext cx="1691640" cy="2651760"/>
          </a:xfrm>
          <a:prstGeom prst="rect">
            <a:avLst/>
          </a:prstGeom>
          <a:solidFill>
            <a:srgbClr val="CA670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298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51192" y="19659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412480" cy="0"/>
          </a:xfrm>
          <a:prstGeom prst="line">
            <a:avLst/>
          </a:prstGeom>
          <a:noFill/>
          <a:ln w="19050">
            <a:solidFill>
              <a:srgbClr val="94D2B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D2BD"/>
                </a:solidFill>
              </a:rPr>
              <a:t>◄ Retroalimentación del cliente hacia la mejora continua del proceso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4D2BD"/>
                </a:solidFill>
              </a:rPr>
              <a:t>ISO 9001:2015  El Sistema de </a:t>
            </a:r>
            <a:r>
              <a:rPr lang="en-US" sz="1000" dirty="0" err="1">
                <a:solidFill>
                  <a:srgbClr val="94D2BD"/>
                </a:solidFill>
              </a:rPr>
              <a:t>Gestión</a:t>
            </a:r>
            <a:r>
              <a:rPr lang="en-US" sz="1000" dirty="0">
                <a:solidFill>
                  <a:srgbClr val="94D2BD"/>
                </a:solidFill>
              </a:rPr>
              <a:t> de Calidad y sus </a:t>
            </a:r>
            <a:r>
              <a:rPr lang="en-US" sz="1000" dirty="0" err="1">
                <a:solidFill>
                  <a:srgbClr val="94D2BD"/>
                </a:solidFill>
              </a:rPr>
              <a:t>procesos</a:t>
            </a:r>
            <a:r>
              <a:rPr lang="en-US" sz="1000" dirty="0">
                <a:solidFill>
                  <a:srgbClr val="94D2BD"/>
                </a:solidFill>
              </a:rPr>
              <a:t> </a:t>
            </a:r>
            <a:r>
              <a:rPr lang="en-US" sz="1000" dirty="0" err="1">
                <a:solidFill>
                  <a:srgbClr val="94D2BD"/>
                </a:solidFill>
              </a:rPr>
              <a:t>exige</a:t>
            </a:r>
            <a:r>
              <a:rPr lang="en-US" sz="1000" dirty="0">
                <a:solidFill>
                  <a:srgbClr val="94D2BD"/>
                </a:solidFill>
              </a:rPr>
              <a:t> </a:t>
            </a:r>
            <a:r>
              <a:rPr lang="en-US" sz="1000" dirty="0" err="1">
                <a:solidFill>
                  <a:srgbClr val="94D2BD"/>
                </a:solidFill>
              </a:rPr>
              <a:t>documentar</a:t>
            </a:r>
            <a:r>
              <a:rPr lang="en-US" sz="1000" dirty="0">
                <a:solidFill>
                  <a:srgbClr val="94D2BD"/>
                </a:solidFill>
              </a:rPr>
              <a:t> las entradas, </a:t>
            </a:r>
            <a:r>
              <a:rPr lang="en-US" sz="1000" dirty="0" err="1">
                <a:solidFill>
                  <a:srgbClr val="94D2BD"/>
                </a:solidFill>
              </a:rPr>
              <a:t>salidas</a:t>
            </a:r>
            <a:r>
              <a:rPr lang="en-US" sz="1000" dirty="0">
                <a:solidFill>
                  <a:srgbClr val="94D2BD"/>
                </a:solidFill>
              </a:rPr>
              <a:t>, </a:t>
            </a:r>
            <a:r>
              <a:rPr lang="en-US" sz="1000" dirty="0" err="1">
                <a:solidFill>
                  <a:srgbClr val="94D2BD"/>
                </a:solidFill>
              </a:rPr>
              <a:t>recursos</a:t>
            </a:r>
            <a:r>
              <a:rPr lang="en-US" sz="1000" dirty="0">
                <a:solidFill>
                  <a:srgbClr val="94D2BD"/>
                </a:solidFill>
              </a:rPr>
              <a:t> y </a:t>
            </a:r>
            <a:r>
              <a:rPr lang="en-US" sz="1000" dirty="0" err="1">
                <a:solidFill>
                  <a:srgbClr val="94D2BD"/>
                </a:solidFill>
              </a:rPr>
              <a:t>controles</a:t>
            </a:r>
            <a:r>
              <a:rPr lang="en-US" sz="1000" dirty="0">
                <a:solidFill>
                  <a:srgbClr val="94D2BD"/>
                </a:solidFill>
              </a:rPr>
              <a:t> de </a:t>
            </a:r>
            <a:r>
              <a:rPr lang="en-US" sz="1000" dirty="0" err="1">
                <a:solidFill>
                  <a:srgbClr val="94D2BD"/>
                </a:solidFill>
              </a:rPr>
              <a:t>cada</a:t>
            </a:r>
            <a:r>
              <a:rPr lang="en-US" sz="1000" dirty="0">
                <a:solidFill>
                  <a:srgbClr val="94D2BD"/>
                </a:solidFill>
              </a:rPr>
              <a:t> </a:t>
            </a:r>
            <a:r>
              <a:rPr lang="en-US" sz="1000" dirty="0" err="1">
                <a:solidFill>
                  <a:srgbClr val="94D2BD"/>
                </a:solidFill>
              </a:rPr>
              <a:t>proceso</a:t>
            </a:r>
            <a:r>
              <a:rPr lang="en-US" sz="1000" dirty="0">
                <a:solidFill>
                  <a:srgbClr val="94D2BD"/>
                </a:solidFill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Procesos - Gestión por Procesos</dc:title>
  <dc:subject>PptxGenJS Presentation</dc:subject>
  <dc:creator>PptxGenJS</dc:creator>
  <cp:lastModifiedBy>PptxGenJS</cp:lastModifiedBy>
  <cp:revision>10</cp:revision>
  <dcterms:created xsi:type="dcterms:W3CDTF">2026-03-21T14:41:20Z</dcterms:created>
  <dcterms:modified xsi:type="dcterms:W3CDTF">2026-03-21T14:57:06Z</dcterms:modified>
</cp:coreProperties>
</file>