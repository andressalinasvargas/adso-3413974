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1" d="100"/>
          <a:sy n="141" d="100"/>
        </p:scale>
        <p:origin x="74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9097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Bienvenidos. Hoy presentamos el PRJ-SENA-SCHEDULE, un sistema que transforma cómo el SENA gestiona sus horarios académicos. Somos un equipo de 5 roles complementarios: análisis, diseño, presentación y documentación. Empecemos por el problema que motivó este proyecto.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central no es tecnológico, es organizacional. La ausencia de una fuente única de verdad genera inconsistencias, duplicidades y errores que consumen tiempo valioso. Los coordinadores dedican hasta el 20% de su jornada semanal solo a verificar y ajustar horarios en Excel y WhatsApp. Estos conflictos se detectan de forma reactiva: cuando ya ocurrieron.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arquitectura Hexagonal separa la lógica de negocio (dominio) de los adaptadores externos como la UI en React o la base de datos PostgreSQL. Esto significa que el sistema puede evolucionar sin reescribirse. La validación en tiempo real menor a 500 milisegundos es la diferencia clave: el sistema detecta el conflicto antes de que ocurra, no después.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es el lenguaje ideal para un backend de alta concurrencia: compila a un binario único, no necesita runtime y maneja múltiples solicitudes simultáneas de forma nativa. React permite construir un calendario interactivo sin recargar la página. Y Docker asegura que el sistema funcione igual en desarrollo que en producción. La metodología MoSCoW prioriza features: Must Have, Should Have, Could Have, Won't Have — evitando el scope creep.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ROI de este proyecto no se mide solo en dinero: se mide en tiempo recuperado para la pedagogía. 8 a 12 semanas de desarrollo para reducir un 60% la carga administrativa del coordinador es una inversión justificada. La arquitectura modular garantiza que en versiones futuras podamos integrar con Sofía Plus sin reescribir el sistema desde cero. Este no es el final del camino, es la base.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0" y="0"/>
            <a:ext cx="5303520" cy="5143500"/>
          </a:xfrm>
          <a:prstGeom prst="rect">
            <a:avLst/>
          </a:prstGeom>
          <a:solidFill>
            <a:srgbClr val="1E2761"/>
          </a:solidFill>
          <a:ln/>
        </p:spPr>
        <p:txBody>
          <a:bodyPr/>
          <a:lstStyle/>
          <a:p>
            <a:endParaRPr lang="es-CO" dirty="0"/>
          </a:p>
        </p:txBody>
      </p:sp>
      <p:sp>
        <p:nvSpPr>
          <p:cNvPr id="3" name="Shape 1"/>
          <p:cNvSpPr/>
          <p:nvPr/>
        </p:nvSpPr>
        <p:spPr>
          <a:xfrm>
            <a:off x="0" y="0"/>
            <a:ext cx="109728" cy="5143500"/>
          </a:xfrm>
          <a:prstGeom prst="rect">
            <a:avLst/>
          </a:prstGeom>
          <a:solidFill>
            <a:srgbClr val="4FC3F7"/>
          </a:solidFill>
          <a:ln/>
        </p:spPr>
        <p:txBody>
          <a:bodyPr/>
          <a:lstStyle/>
          <a:p>
            <a:endParaRPr lang="es-CO"/>
          </a:p>
        </p:txBody>
      </p:sp>
      <p:sp>
        <p:nvSpPr>
          <p:cNvPr id="6" name="Shape 4"/>
          <p:cNvSpPr/>
          <p:nvPr/>
        </p:nvSpPr>
        <p:spPr>
          <a:xfrm>
            <a:off x="411480" y="457200"/>
            <a:ext cx="1920240" cy="320040"/>
          </a:xfrm>
          <a:prstGeom prst="rect">
            <a:avLst/>
          </a:prstGeom>
          <a:solidFill>
            <a:srgbClr val="4FC3F7"/>
          </a:solidFill>
          <a:ln w="12700">
            <a:solidFill>
              <a:srgbClr val="4FC3F7"/>
            </a:solidFill>
            <a:prstDash val="solid"/>
          </a:ln>
        </p:spPr>
        <p:txBody>
          <a:bodyPr/>
          <a:lstStyle/>
          <a:p>
            <a:endParaRPr lang="es-CO"/>
          </a:p>
        </p:txBody>
      </p:sp>
      <p:sp>
        <p:nvSpPr>
          <p:cNvPr id="7" name="Text 5"/>
          <p:cNvSpPr/>
          <p:nvPr/>
        </p:nvSpPr>
        <p:spPr>
          <a:xfrm>
            <a:off x="411480" y="457200"/>
            <a:ext cx="1920240" cy="320040"/>
          </a:xfrm>
          <a:prstGeom prst="rect">
            <a:avLst/>
          </a:prstGeom>
          <a:noFill/>
          <a:ln/>
        </p:spPr>
        <p:txBody>
          <a:bodyPr wrap="square" lIns="0" tIns="0" rIns="0" bIns="0" rtlCol="0" anchor="ctr"/>
          <a:lstStyle/>
          <a:p>
            <a:pPr marL="0" indent="0" algn="ctr">
              <a:buNone/>
            </a:pPr>
            <a:r>
              <a:rPr lang="en-US" sz="900" b="1" dirty="0">
                <a:solidFill>
                  <a:srgbClr val="141B4D"/>
                </a:solidFill>
              </a:rPr>
              <a:t>SENA · MAYO 2026</a:t>
            </a:r>
            <a:endParaRPr lang="en-US" sz="900" dirty="0"/>
          </a:p>
        </p:txBody>
      </p:sp>
      <p:sp>
        <p:nvSpPr>
          <p:cNvPr id="8" name="Text 6"/>
          <p:cNvSpPr/>
          <p:nvPr/>
        </p:nvSpPr>
        <p:spPr>
          <a:xfrm>
            <a:off x="320040" y="960120"/>
            <a:ext cx="4754880" cy="548640"/>
          </a:xfrm>
          <a:prstGeom prst="rect">
            <a:avLst/>
          </a:prstGeom>
          <a:noFill/>
          <a:ln/>
        </p:spPr>
        <p:txBody>
          <a:bodyPr wrap="square" rtlCol="0" anchor="ctr"/>
          <a:lstStyle/>
          <a:p>
            <a:pPr marL="0" indent="0" algn="l">
              <a:buNone/>
            </a:pPr>
            <a:r>
              <a:rPr lang="en-US" sz="2800" b="1" kern="0" spc="200" dirty="0">
                <a:solidFill>
                  <a:srgbClr val="4FC3F7"/>
                </a:solidFill>
                <a:latin typeface="Arial Black" pitchFamily="34" charset="0"/>
                <a:ea typeface="Arial Black" pitchFamily="34" charset="-122"/>
                <a:cs typeface="Arial Black" pitchFamily="34" charset="-120"/>
              </a:rPr>
              <a:t>Proyecto-SENA</a:t>
            </a:r>
            <a:endParaRPr lang="en-US" sz="2800" dirty="0"/>
          </a:p>
        </p:txBody>
      </p:sp>
      <p:sp>
        <p:nvSpPr>
          <p:cNvPr id="9" name="Text 7"/>
          <p:cNvSpPr/>
          <p:nvPr/>
        </p:nvSpPr>
        <p:spPr>
          <a:xfrm>
            <a:off x="320040" y="1572768"/>
            <a:ext cx="4663440" cy="914400"/>
          </a:xfrm>
          <a:prstGeom prst="rect">
            <a:avLst/>
          </a:prstGeom>
          <a:noFill/>
          <a:ln/>
        </p:spPr>
        <p:txBody>
          <a:bodyPr wrap="square" rtlCol="0" anchor="t"/>
          <a:lstStyle/>
          <a:p>
            <a:pPr marL="0" indent="0" algn="l">
              <a:buNone/>
            </a:pPr>
            <a:r>
              <a:rPr lang="en-US" sz="1900" dirty="0">
                <a:solidFill>
                  <a:srgbClr val="FFFFFF"/>
                </a:solidFill>
                <a:latin typeface="Calibri" pitchFamily="34" charset="0"/>
                <a:ea typeface="Calibri" pitchFamily="34" charset="-122"/>
                <a:cs typeface="Calibri" pitchFamily="34" charset="-120"/>
              </a:rPr>
              <a:t>Sistema de Gestión de</a:t>
            </a:r>
            <a:endParaRPr lang="en-US" sz="1900" dirty="0"/>
          </a:p>
          <a:p>
            <a:pPr marL="0" indent="0" algn="l">
              <a:buNone/>
            </a:pPr>
            <a:r>
              <a:rPr lang="en-US" sz="1900" dirty="0">
                <a:solidFill>
                  <a:srgbClr val="FFFFFF"/>
                </a:solidFill>
                <a:latin typeface="Calibri" pitchFamily="34" charset="0"/>
                <a:ea typeface="Calibri" pitchFamily="34" charset="-122"/>
                <a:cs typeface="Calibri" pitchFamily="34" charset="-120"/>
              </a:rPr>
              <a:t>Horarios Académicos</a:t>
            </a:r>
            <a:endParaRPr lang="en-US" sz="1900" dirty="0"/>
          </a:p>
        </p:txBody>
      </p:sp>
      <p:sp>
        <p:nvSpPr>
          <p:cNvPr id="10" name="Text 8"/>
          <p:cNvSpPr/>
          <p:nvPr/>
        </p:nvSpPr>
        <p:spPr>
          <a:xfrm>
            <a:off x="320040" y="2542032"/>
            <a:ext cx="4663440" cy="365760"/>
          </a:xfrm>
          <a:prstGeom prst="rect">
            <a:avLst/>
          </a:prstGeom>
          <a:noFill/>
          <a:ln/>
        </p:spPr>
        <p:txBody>
          <a:bodyPr wrap="square" rtlCol="0" anchor="ctr"/>
          <a:lstStyle/>
          <a:p>
            <a:pPr marL="0" indent="0" algn="l">
              <a:buNone/>
            </a:pPr>
            <a:r>
              <a:rPr lang="en-US" sz="1000" i="1" dirty="0">
                <a:solidFill>
                  <a:srgbClr val="CADCFC"/>
                </a:solidFill>
              </a:rPr>
              <a:t>Del Excel al futuro digital · IEEE 830 · Arquitectura Hexagonal</a:t>
            </a:r>
            <a:endParaRPr lang="en-US" sz="1000" dirty="0"/>
          </a:p>
        </p:txBody>
      </p:sp>
      <p:sp>
        <p:nvSpPr>
          <p:cNvPr id="11" name="Shape 9"/>
          <p:cNvSpPr/>
          <p:nvPr/>
        </p:nvSpPr>
        <p:spPr>
          <a:xfrm>
            <a:off x="347472" y="4078224"/>
            <a:ext cx="4480560" cy="36576"/>
          </a:xfrm>
          <a:prstGeom prst="rect">
            <a:avLst/>
          </a:prstGeom>
          <a:solidFill>
            <a:srgbClr val="8B9DC3"/>
          </a:solidFill>
          <a:ln/>
        </p:spPr>
        <p:txBody>
          <a:bodyPr/>
          <a:lstStyle/>
          <a:p>
            <a:endParaRPr lang="es-CO"/>
          </a:p>
        </p:txBody>
      </p:sp>
      <p:sp>
        <p:nvSpPr>
          <p:cNvPr id="12" name="Text 10"/>
          <p:cNvSpPr/>
          <p:nvPr/>
        </p:nvSpPr>
        <p:spPr>
          <a:xfrm>
            <a:off x="320040" y="3127248"/>
            <a:ext cx="4480560" cy="274320"/>
          </a:xfrm>
          <a:prstGeom prst="rect">
            <a:avLst/>
          </a:prstGeom>
          <a:noFill/>
          <a:ln/>
        </p:spPr>
        <p:txBody>
          <a:bodyPr wrap="square" rtlCol="0" anchor="ctr"/>
          <a:lstStyle/>
          <a:p>
            <a:pPr marL="0" indent="0" algn="l">
              <a:buNone/>
            </a:pPr>
            <a:endParaRPr lang="en-US" sz="900" dirty="0"/>
          </a:p>
        </p:txBody>
      </p:sp>
      <p:sp>
        <p:nvSpPr>
          <p:cNvPr id="16" name="Text 13"/>
          <p:cNvSpPr/>
          <p:nvPr/>
        </p:nvSpPr>
        <p:spPr>
          <a:xfrm>
            <a:off x="320040" y="3822192"/>
            <a:ext cx="850392" cy="210312"/>
          </a:xfrm>
          <a:prstGeom prst="rect">
            <a:avLst/>
          </a:prstGeom>
          <a:noFill/>
          <a:ln/>
        </p:spPr>
        <p:txBody>
          <a:bodyPr wrap="square" rtlCol="0" anchor="t"/>
          <a:lstStyle/>
          <a:p>
            <a:pPr marL="0" indent="0" algn="ctr">
              <a:buNone/>
            </a:pPr>
            <a:endParaRPr lang="en-US" sz="1000" dirty="0"/>
          </a:p>
        </p:txBody>
      </p:sp>
      <p:sp>
        <p:nvSpPr>
          <p:cNvPr id="17" name="Text 14"/>
          <p:cNvSpPr/>
          <p:nvPr/>
        </p:nvSpPr>
        <p:spPr>
          <a:xfrm>
            <a:off x="347472" y="3986784"/>
            <a:ext cx="795528" cy="182880"/>
          </a:xfrm>
          <a:prstGeom prst="rect">
            <a:avLst/>
          </a:prstGeom>
          <a:noFill/>
          <a:ln/>
        </p:spPr>
        <p:txBody>
          <a:bodyPr wrap="square" rtlCol="0" anchor="t"/>
          <a:lstStyle/>
          <a:p>
            <a:pPr marL="0" indent="0" algn="ctr">
              <a:buNone/>
            </a:pPr>
            <a:endParaRPr lang="en-US" sz="750" dirty="0"/>
          </a:p>
        </p:txBody>
      </p:sp>
      <p:sp>
        <p:nvSpPr>
          <p:cNvPr id="21" name="Text 17"/>
          <p:cNvSpPr/>
          <p:nvPr/>
        </p:nvSpPr>
        <p:spPr>
          <a:xfrm>
            <a:off x="1179576" y="3822192"/>
            <a:ext cx="850392" cy="210312"/>
          </a:xfrm>
          <a:prstGeom prst="rect">
            <a:avLst/>
          </a:prstGeom>
          <a:noFill/>
          <a:ln/>
        </p:spPr>
        <p:txBody>
          <a:bodyPr wrap="square" rtlCol="0" anchor="t"/>
          <a:lstStyle/>
          <a:p>
            <a:pPr marL="0" indent="0" algn="ctr">
              <a:buNone/>
            </a:pPr>
            <a:endParaRPr lang="en-US" sz="1000" dirty="0"/>
          </a:p>
        </p:txBody>
      </p:sp>
      <p:sp>
        <p:nvSpPr>
          <p:cNvPr id="22" name="Text 18"/>
          <p:cNvSpPr/>
          <p:nvPr/>
        </p:nvSpPr>
        <p:spPr>
          <a:xfrm>
            <a:off x="1207008" y="3986784"/>
            <a:ext cx="795528" cy="182880"/>
          </a:xfrm>
          <a:prstGeom prst="rect">
            <a:avLst/>
          </a:prstGeom>
          <a:noFill/>
          <a:ln/>
        </p:spPr>
        <p:txBody>
          <a:bodyPr wrap="square" rtlCol="0" anchor="t"/>
          <a:lstStyle/>
          <a:p>
            <a:pPr marL="0" indent="0" algn="ctr">
              <a:buNone/>
            </a:pPr>
            <a:endParaRPr lang="en-US" sz="750" dirty="0"/>
          </a:p>
        </p:txBody>
      </p:sp>
      <p:sp>
        <p:nvSpPr>
          <p:cNvPr id="26" name="Text 21"/>
          <p:cNvSpPr/>
          <p:nvPr/>
        </p:nvSpPr>
        <p:spPr>
          <a:xfrm>
            <a:off x="2039112" y="3822192"/>
            <a:ext cx="850392" cy="210312"/>
          </a:xfrm>
          <a:prstGeom prst="rect">
            <a:avLst/>
          </a:prstGeom>
          <a:noFill/>
          <a:ln/>
        </p:spPr>
        <p:txBody>
          <a:bodyPr wrap="square" rtlCol="0" anchor="t"/>
          <a:lstStyle/>
          <a:p>
            <a:pPr marL="0" indent="0" algn="ctr">
              <a:buNone/>
            </a:pPr>
            <a:endParaRPr lang="en-US" sz="1000" dirty="0"/>
          </a:p>
        </p:txBody>
      </p:sp>
      <p:sp>
        <p:nvSpPr>
          <p:cNvPr id="31" name="Text 25"/>
          <p:cNvSpPr/>
          <p:nvPr/>
        </p:nvSpPr>
        <p:spPr>
          <a:xfrm>
            <a:off x="2898648" y="3822192"/>
            <a:ext cx="850392" cy="210312"/>
          </a:xfrm>
          <a:prstGeom prst="rect">
            <a:avLst/>
          </a:prstGeom>
          <a:noFill/>
          <a:ln/>
        </p:spPr>
        <p:txBody>
          <a:bodyPr wrap="square" rtlCol="0" anchor="t"/>
          <a:lstStyle/>
          <a:p>
            <a:pPr marL="0" indent="0" algn="ctr">
              <a:buNone/>
            </a:pPr>
            <a:endParaRPr lang="en-US" sz="1000" dirty="0"/>
          </a:p>
        </p:txBody>
      </p:sp>
      <p:sp>
        <p:nvSpPr>
          <p:cNvPr id="32" name="Text 26"/>
          <p:cNvSpPr/>
          <p:nvPr/>
        </p:nvSpPr>
        <p:spPr>
          <a:xfrm>
            <a:off x="2926080" y="3986784"/>
            <a:ext cx="795528" cy="182880"/>
          </a:xfrm>
          <a:prstGeom prst="rect">
            <a:avLst/>
          </a:prstGeom>
          <a:noFill/>
          <a:ln/>
        </p:spPr>
        <p:txBody>
          <a:bodyPr wrap="square" rtlCol="0" anchor="t"/>
          <a:lstStyle/>
          <a:p>
            <a:pPr marL="0" indent="0" algn="ctr">
              <a:buNone/>
            </a:pPr>
            <a:endParaRPr lang="en-US" sz="750" dirty="0"/>
          </a:p>
        </p:txBody>
      </p:sp>
      <p:sp>
        <p:nvSpPr>
          <p:cNvPr id="36" name="Text 29"/>
          <p:cNvSpPr/>
          <p:nvPr/>
        </p:nvSpPr>
        <p:spPr>
          <a:xfrm>
            <a:off x="3758184" y="3822192"/>
            <a:ext cx="850392" cy="210312"/>
          </a:xfrm>
          <a:prstGeom prst="rect">
            <a:avLst/>
          </a:prstGeom>
          <a:noFill/>
          <a:ln/>
        </p:spPr>
        <p:txBody>
          <a:bodyPr wrap="square" rtlCol="0" anchor="t"/>
          <a:lstStyle/>
          <a:p>
            <a:pPr marL="0" indent="0" algn="ctr">
              <a:buNone/>
            </a:pPr>
            <a:endParaRPr lang="en-US" sz="1000" dirty="0"/>
          </a:p>
        </p:txBody>
      </p:sp>
      <p:sp>
        <p:nvSpPr>
          <p:cNvPr id="37" name="Text 30"/>
          <p:cNvSpPr/>
          <p:nvPr/>
        </p:nvSpPr>
        <p:spPr>
          <a:xfrm>
            <a:off x="3785616" y="3986784"/>
            <a:ext cx="795528" cy="182880"/>
          </a:xfrm>
          <a:prstGeom prst="rect">
            <a:avLst/>
          </a:prstGeom>
          <a:noFill/>
          <a:ln/>
        </p:spPr>
        <p:txBody>
          <a:bodyPr wrap="square" rtlCol="0" anchor="t"/>
          <a:lstStyle/>
          <a:p>
            <a:pPr marL="0" indent="0" algn="ctr">
              <a:buNone/>
            </a:pPr>
            <a:endParaRPr lang="en-US" sz="750" dirty="0"/>
          </a:p>
        </p:txBody>
      </p:sp>
      <p:sp>
        <p:nvSpPr>
          <p:cNvPr id="38" name="Text 31"/>
          <p:cNvSpPr/>
          <p:nvPr/>
        </p:nvSpPr>
        <p:spPr>
          <a:xfrm>
            <a:off x="5669280" y="1371600"/>
            <a:ext cx="2926080" cy="1463040"/>
          </a:xfrm>
          <a:prstGeom prst="rect">
            <a:avLst/>
          </a:prstGeom>
          <a:noFill/>
          <a:ln/>
        </p:spPr>
        <p:txBody>
          <a:bodyPr wrap="square" rtlCol="0" anchor="ctr"/>
          <a:lstStyle/>
          <a:p>
            <a:pPr marL="0" indent="0" algn="ctr">
              <a:buNone/>
            </a:pPr>
            <a:endParaRPr lang="en-US" sz="13000" dirty="0"/>
          </a:p>
        </p:txBody>
      </p:sp>
      <p:sp>
        <p:nvSpPr>
          <p:cNvPr id="39" name="Text 32"/>
          <p:cNvSpPr/>
          <p:nvPr/>
        </p:nvSpPr>
        <p:spPr>
          <a:xfrm>
            <a:off x="5669280" y="2743200"/>
            <a:ext cx="2926080" cy="731520"/>
          </a:xfrm>
          <a:prstGeom prst="rect">
            <a:avLst/>
          </a:prstGeom>
          <a:noFill/>
          <a:ln/>
        </p:spPr>
        <p:txBody>
          <a:bodyPr wrap="square" rtlCol="0" anchor="ctr"/>
          <a:lstStyle/>
          <a:p>
            <a:pPr marL="0" indent="0" algn="ctr">
              <a:buNone/>
            </a:pP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p:spPr>
        <p:txBody>
          <a:bodyPr/>
          <a:lstStyle/>
          <a:p>
            <a:endParaRPr lang="es-CO"/>
          </a:p>
        </p:txBody>
      </p:sp>
      <p:sp>
        <p:nvSpPr>
          <p:cNvPr id="3" name="Shape 1"/>
          <p:cNvSpPr/>
          <p:nvPr/>
        </p:nvSpPr>
        <p:spPr>
          <a:xfrm>
            <a:off x="0" y="0"/>
            <a:ext cx="109728" cy="960120"/>
          </a:xfrm>
          <a:prstGeom prst="rect">
            <a:avLst/>
          </a:prstGeom>
          <a:solidFill>
            <a:srgbClr val="FF5252"/>
          </a:solidFill>
          <a:ln/>
        </p:spPr>
        <p:txBody>
          <a:bodyPr/>
          <a:lstStyle/>
          <a:p>
            <a:endParaRPr lang="es-CO"/>
          </a:p>
        </p:txBody>
      </p:sp>
      <p:sp>
        <p:nvSpPr>
          <p:cNvPr id="4" name="Text 2"/>
          <p:cNvSpPr/>
          <p:nvPr/>
        </p:nvSpPr>
        <p:spPr>
          <a:xfrm>
            <a:off x="164592" y="64008"/>
            <a:ext cx="777240" cy="804672"/>
          </a:xfrm>
          <a:prstGeom prst="rect">
            <a:avLst/>
          </a:prstGeom>
          <a:noFill/>
          <a:ln/>
        </p:spPr>
        <p:txBody>
          <a:bodyPr wrap="square" rtlCol="0" anchor="ctr"/>
          <a:lstStyle/>
          <a:p>
            <a:pPr marL="0" indent="0" algn="ctr">
              <a:buNone/>
            </a:pPr>
            <a:r>
              <a:rPr lang="en-US" sz="3000" b="1" dirty="0">
                <a:solidFill>
                  <a:srgbClr val="FF5252"/>
                </a:solidFill>
                <a:latin typeface="Arial Black" pitchFamily="34" charset="0"/>
                <a:ea typeface="Arial Black" pitchFamily="34" charset="-122"/>
                <a:cs typeface="Arial Black" pitchFamily="34" charset="-120"/>
              </a:rPr>
              <a:t>02</a:t>
            </a:r>
            <a:endParaRPr lang="en-US" sz="3000" dirty="0"/>
          </a:p>
        </p:txBody>
      </p:sp>
      <p:sp>
        <p:nvSpPr>
          <p:cNvPr id="5" name="Text 3"/>
          <p:cNvSpPr/>
          <p:nvPr/>
        </p:nvSpPr>
        <p:spPr>
          <a:xfrm>
            <a:off x="822960" y="182880"/>
            <a:ext cx="8046720" cy="502920"/>
          </a:xfrm>
          <a:prstGeom prst="rect">
            <a:avLst/>
          </a:prstGeom>
          <a:noFill/>
          <a:ln/>
        </p:spPr>
        <p:txBody>
          <a:bodyPr wrap="square" rtlCol="0" anchor="ctr"/>
          <a:lstStyle/>
          <a:p>
            <a:pPr marL="0" indent="0" algn="l">
              <a:buNone/>
            </a:pPr>
            <a:r>
              <a:rPr lang="en-US" sz="2000" b="1" dirty="0">
                <a:solidFill>
                  <a:srgbClr val="FFFFFF"/>
                </a:solidFill>
                <a:latin typeface="Arial Black" pitchFamily="34" charset="0"/>
                <a:ea typeface="Arial Black" pitchFamily="34" charset="-122"/>
                <a:cs typeface="Arial Black" pitchFamily="34" charset="-120"/>
              </a:rPr>
              <a:t>EL PROBLEMA  ·  La Tiranía del Excel</a:t>
            </a:r>
            <a:endParaRPr lang="en-US" sz="2000" dirty="0"/>
          </a:p>
        </p:txBody>
      </p:sp>
      <p:sp>
        <p:nvSpPr>
          <p:cNvPr id="6" name="Shape 4"/>
          <p:cNvSpPr/>
          <p:nvPr/>
        </p:nvSpPr>
        <p:spPr>
          <a:xfrm>
            <a:off x="320040" y="1078992"/>
            <a:ext cx="2651760" cy="1417320"/>
          </a:xfrm>
          <a:prstGeom prst="rect">
            <a:avLst/>
          </a:prstGeom>
          <a:solidFill>
            <a:srgbClr val="1E2761"/>
          </a:solidFill>
          <a:ln/>
          <a:effectLst>
            <a:outerShdw blurRad="101600" dist="38100" dir="8100000" algn="bl" rotWithShape="0">
              <a:srgbClr val="000000">
                <a:alpha val="18000"/>
              </a:srgbClr>
            </a:outerShdw>
          </a:effectLst>
        </p:spPr>
        <p:txBody>
          <a:bodyPr/>
          <a:lstStyle/>
          <a:p>
            <a:endParaRPr lang="es-CO"/>
          </a:p>
        </p:txBody>
      </p:sp>
      <p:sp>
        <p:nvSpPr>
          <p:cNvPr id="7" name="Shape 5"/>
          <p:cNvSpPr/>
          <p:nvPr/>
        </p:nvSpPr>
        <p:spPr>
          <a:xfrm>
            <a:off x="320040" y="1078992"/>
            <a:ext cx="2651760" cy="54864"/>
          </a:xfrm>
          <a:prstGeom prst="rect">
            <a:avLst/>
          </a:prstGeom>
          <a:solidFill>
            <a:srgbClr val="FF5252"/>
          </a:solidFill>
          <a:ln/>
        </p:spPr>
        <p:txBody>
          <a:bodyPr/>
          <a:lstStyle/>
          <a:p>
            <a:endParaRPr lang="es-CO"/>
          </a:p>
        </p:txBody>
      </p:sp>
      <p:pic>
        <p:nvPicPr>
          <p:cNvPr id="8" name="Image 0" descr="preencoded.png"/>
          <p:cNvPicPr>
            <a:picLocks noChangeAspect="1"/>
          </p:cNvPicPr>
          <p:nvPr/>
        </p:nvPicPr>
        <p:blipFill>
          <a:blip r:embed="rId3"/>
          <a:stretch>
            <a:fillRect/>
          </a:stretch>
        </p:blipFill>
        <p:spPr>
          <a:xfrm>
            <a:off x="457200" y="1207008"/>
            <a:ext cx="320040" cy="320040"/>
          </a:xfrm>
          <a:prstGeom prst="rect">
            <a:avLst/>
          </a:prstGeom>
        </p:spPr>
      </p:pic>
      <p:sp>
        <p:nvSpPr>
          <p:cNvPr id="9" name="Text 6"/>
          <p:cNvSpPr/>
          <p:nvPr/>
        </p:nvSpPr>
        <p:spPr>
          <a:xfrm>
            <a:off x="822960" y="1152144"/>
            <a:ext cx="2011680" cy="548640"/>
          </a:xfrm>
          <a:prstGeom prst="rect">
            <a:avLst/>
          </a:prstGeom>
          <a:noFill/>
          <a:ln/>
        </p:spPr>
        <p:txBody>
          <a:bodyPr wrap="square" rtlCol="0" anchor="ctr"/>
          <a:lstStyle/>
          <a:p>
            <a:pPr marL="0" indent="0" algn="l">
              <a:buNone/>
            </a:pPr>
            <a:r>
              <a:rPr lang="en-US" sz="3200" b="1" dirty="0">
                <a:solidFill>
                  <a:srgbClr val="FF5252"/>
                </a:solidFill>
                <a:latin typeface="Arial Black" pitchFamily="34" charset="0"/>
                <a:ea typeface="Arial Black" pitchFamily="34" charset="-122"/>
                <a:cs typeface="Arial Black" pitchFamily="34" charset="-120"/>
              </a:rPr>
              <a:t>20%</a:t>
            </a:r>
            <a:endParaRPr lang="en-US" sz="3200" dirty="0"/>
          </a:p>
        </p:txBody>
      </p:sp>
      <p:sp>
        <p:nvSpPr>
          <p:cNvPr id="10" name="Text 7"/>
          <p:cNvSpPr/>
          <p:nvPr/>
        </p:nvSpPr>
        <p:spPr>
          <a:xfrm>
            <a:off x="484632" y="1737360"/>
            <a:ext cx="2331720" cy="658368"/>
          </a:xfrm>
          <a:prstGeom prst="rect">
            <a:avLst/>
          </a:prstGeom>
          <a:noFill/>
          <a:ln/>
        </p:spPr>
        <p:txBody>
          <a:bodyPr wrap="square" rtlCol="0" anchor="t"/>
          <a:lstStyle/>
          <a:p>
            <a:pPr marL="0" indent="0" algn="l">
              <a:buNone/>
            </a:pPr>
            <a:r>
              <a:rPr lang="en-US" sz="1000" dirty="0">
                <a:solidFill>
                  <a:srgbClr val="CADCFC"/>
                </a:solidFill>
              </a:rPr>
              <a:t>Tiempo administrativo</a:t>
            </a:r>
            <a:endParaRPr lang="en-US" sz="1000" dirty="0"/>
          </a:p>
          <a:p>
            <a:pPr marL="0" indent="0" algn="l">
              <a:buNone/>
            </a:pPr>
            <a:r>
              <a:rPr lang="en-US" sz="1000" dirty="0">
                <a:solidFill>
                  <a:srgbClr val="CADCFC"/>
                </a:solidFill>
              </a:rPr>
              <a:t>perdido cada semana</a:t>
            </a:r>
            <a:endParaRPr lang="en-US" sz="1000" dirty="0"/>
          </a:p>
        </p:txBody>
      </p:sp>
      <p:sp>
        <p:nvSpPr>
          <p:cNvPr id="11" name="Shape 8"/>
          <p:cNvSpPr/>
          <p:nvPr/>
        </p:nvSpPr>
        <p:spPr>
          <a:xfrm>
            <a:off x="3200400" y="1078992"/>
            <a:ext cx="2651760" cy="1417320"/>
          </a:xfrm>
          <a:prstGeom prst="rect">
            <a:avLst/>
          </a:prstGeom>
          <a:solidFill>
            <a:srgbClr val="1E2761"/>
          </a:solidFill>
          <a:ln/>
          <a:effectLst>
            <a:outerShdw blurRad="101600" dist="38100" dir="8100000" algn="bl" rotWithShape="0">
              <a:srgbClr val="000000">
                <a:alpha val="18000"/>
              </a:srgbClr>
            </a:outerShdw>
          </a:effectLst>
        </p:spPr>
        <p:txBody>
          <a:bodyPr/>
          <a:lstStyle/>
          <a:p>
            <a:endParaRPr lang="es-CO"/>
          </a:p>
        </p:txBody>
      </p:sp>
      <p:sp>
        <p:nvSpPr>
          <p:cNvPr id="12" name="Shape 9"/>
          <p:cNvSpPr/>
          <p:nvPr/>
        </p:nvSpPr>
        <p:spPr>
          <a:xfrm>
            <a:off x="3200400" y="1078992"/>
            <a:ext cx="2651760" cy="54864"/>
          </a:xfrm>
          <a:prstGeom prst="rect">
            <a:avLst/>
          </a:prstGeom>
          <a:solidFill>
            <a:srgbClr val="FFB300"/>
          </a:solidFill>
          <a:ln/>
        </p:spPr>
        <p:txBody>
          <a:bodyPr/>
          <a:lstStyle/>
          <a:p>
            <a:endParaRPr lang="es-CO"/>
          </a:p>
        </p:txBody>
      </p:sp>
      <p:pic>
        <p:nvPicPr>
          <p:cNvPr id="13" name="Image 1" descr="preencoded.png"/>
          <p:cNvPicPr>
            <a:picLocks noChangeAspect="1"/>
          </p:cNvPicPr>
          <p:nvPr/>
        </p:nvPicPr>
        <p:blipFill>
          <a:blip r:embed="rId4"/>
          <a:stretch>
            <a:fillRect/>
          </a:stretch>
        </p:blipFill>
        <p:spPr>
          <a:xfrm>
            <a:off x="3337560" y="1207008"/>
            <a:ext cx="320040" cy="320040"/>
          </a:xfrm>
          <a:prstGeom prst="rect">
            <a:avLst/>
          </a:prstGeom>
        </p:spPr>
      </p:pic>
      <p:sp>
        <p:nvSpPr>
          <p:cNvPr id="14" name="Text 10"/>
          <p:cNvSpPr/>
          <p:nvPr/>
        </p:nvSpPr>
        <p:spPr>
          <a:xfrm>
            <a:off x="3703320" y="1152144"/>
            <a:ext cx="2011680" cy="548640"/>
          </a:xfrm>
          <a:prstGeom prst="rect">
            <a:avLst/>
          </a:prstGeom>
          <a:noFill/>
          <a:ln/>
        </p:spPr>
        <p:txBody>
          <a:bodyPr wrap="square" rtlCol="0" anchor="ctr"/>
          <a:lstStyle/>
          <a:p>
            <a:pPr marL="0" indent="0" algn="l">
              <a:buNone/>
            </a:pPr>
            <a:r>
              <a:rPr lang="en-US" sz="3200" b="1" dirty="0">
                <a:solidFill>
                  <a:srgbClr val="FFB300"/>
                </a:solidFill>
                <a:latin typeface="Arial Black" pitchFamily="34" charset="0"/>
                <a:ea typeface="Arial Black" pitchFamily="34" charset="-122"/>
                <a:cs typeface="Arial Black" pitchFamily="34" charset="-120"/>
              </a:rPr>
              <a:t>2-3</a:t>
            </a:r>
            <a:endParaRPr lang="en-US" sz="3200" dirty="0"/>
          </a:p>
        </p:txBody>
      </p:sp>
      <p:sp>
        <p:nvSpPr>
          <p:cNvPr id="15" name="Text 11"/>
          <p:cNvSpPr/>
          <p:nvPr/>
        </p:nvSpPr>
        <p:spPr>
          <a:xfrm>
            <a:off x="3364992" y="1737360"/>
            <a:ext cx="2331720" cy="658368"/>
          </a:xfrm>
          <a:prstGeom prst="rect">
            <a:avLst/>
          </a:prstGeom>
          <a:noFill/>
          <a:ln/>
        </p:spPr>
        <p:txBody>
          <a:bodyPr wrap="square" rtlCol="0" anchor="t"/>
          <a:lstStyle/>
          <a:p>
            <a:pPr marL="0" indent="0" algn="l">
              <a:buNone/>
            </a:pPr>
            <a:r>
              <a:rPr lang="en-US" sz="1000" dirty="0">
                <a:solidFill>
                  <a:srgbClr val="CADCFC"/>
                </a:solidFill>
              </a:rPr>
              <a:t>Cruces de horario</a:t>
            </a:r>
            <a:endParaRPr lang="en-US" sz="1000" dirty="0"/>
          </a:p>
          <a:p>
            <a:pPr marL="0" indent="0" algn="l">
              <a:buNone/>
            </a:pPr>
            <a:r>
              <a:rPr lang="en-US" sz="1000" dirty="0">
                <a:solidFill>
                  <a:srgbClr val="CADCFC"/>
                </a:solidFill>
              </a:rPr>
              <a:t>por semana sin sistema</a:t>
            </a:r>
            <a:endParaRPr lang="en-US" sz="1000" dirty="0"/>
          </a:p>
        </p:txBody>
      </p:sp>
      <p:sp>
        <p:nvSpPr>
          <p:cNvPr id="16" name="Shape 12"/>
          <p:cNvSpPr/>
          <p:nvPr/>
        </p:nvSpPr>
        <p:spPr>
          <a:xfrm>
            <a:off x="6080760" y="1078992"/>
            <a:ext cx="2651760" cy="1417320"/>
          </a:xfrm>
          <a:prstGeom prst="rect">
            <a:avLst/>
          </a:prstGeom>
          <a:solidFill>
            <a:srgbClr val="1E2761"/>
          </a:solidFill>
          <a:ln/>
          <a:effectLst>
            <a:outerShdw blurRad="101600" dist="38100" dir="8100000" algn="bl" rotWithShape="0">
              <a:srgbClr val="000000">
                <a:alpha val="18000"/>
              </a:srgbClr>
            </a:outerShdw>
          </a:effectLst>
        </p:spPr>
        <p:txBody>
          <a:bodyPr/>
          <a:lstStyle/>
          <a:p>
            <a:endParaRPr lang="es-CO"/>
          </a:p>
        </p:txBody>
      </p:sp>
      <p:sp>
        <p:nvSpPr>
          <p:cNvPr id="17" name="Shape 13"/>
          <p:cNvSpPr/>
          <p:nvPr/>
        </p:nvSpPr>
        <p:spPr>
          <a:xfrm>
            <a:off x="6080760" y="1078992"/>
            <a:ext cx="2651760" cy="54864"/>
          </a:xfrm>
          <a:prstGeom prst="rect">
            <a:avLst/>
          </a:prstGeom>
          <a:solidFill>
            <a:srgbClr val="4FC3F7"/>
          </a:solidFill>
          <a:ln/>
        </p:spPr>
        <p:txBody>
          <a:bodyPr/>
          <a:lstStyle/>
          <a:p>
            <a:endParaRPr lang="es-CO"/>
          </a:p>
        </p:txBody>
      </p:sp>
      <p:pic>
        <p:nvPicPr>
          <p:cNvPr id="18" name="Image 2" descr="preencoded.png"/>
          <p:cNvPicPr>
            <a:picLocks noChangeAspect="1"/>
          </p:cNvPicPr>
          <p:nvPr/>
        </p:nvPicPr>
        <p:blipFill>
          <a:blip r:embed="rId5"/>
          <a:stretch>
            <a:fillRect/>
          </a:stretch>
        </p:blipFill>
        <p:spPr>
          <a:xfrm>
            <a:off x="6217920" y="1207008"/>
            <a:ext cx="320040" cy="320040"/>
          </a:xfrm>
          <a:prstGeom prst="rect">
            <a:avLst/>
          </a:prstGeom>
        </p:spPr>
      </p:pic>
      <p:sp>
        <p:nvSpPr>
          <p:cNvPr id="19" name="Text 14"/>
          <p:cNvSpPr/>
          <p:nvPr/>
        </p:nvSpPr>
        <p:spPr>
          <a:xfrm>
            <a:off x="6583680" y="1152144"/>
            <a:ext cx="2011680" cy="548640"/>
          </a:xfrm>
          <a:prstGeom prst="rect">
            <a:avLst/>
          </a:prstGeom>
          <a:noFill/>
          <a:ln/>
        </p:spPr>
        <p:txBody>
          <a:bodyPr wrap="square" rtlCol="0" anchor="ctr"/>
          <a:lstStyle/>
          <a:p>
            <a:pPr marL="0" indent="0" algn="l">
              <a:buNone/>
            </a:pPr>
            <a:r>
              <a:rPr lang="en-US" sz="3200" b="1" dirty="0">
                <a:solidFill>
                  <a:srgbClr val="4FC3F7"/>
                </a:solidFill>
                <a:latin typeface="Arial Black" pitchFamily="34" charset="0"/>
                <a:ea typeface="Arial Black" pitchFamily="34" charset="-122"/>
                <a:cs typeface="Arial Black" pitchFamily="34" charset="-120"/>
              </a:rPr>
              <a:t>5 hrs</a:t>
            </a:r>
            <a:endParaRPr lang="en-US" sz="3200" dirty="0"/>
          </a:p>
        </p:txBody>
      </p:sp>
      <p:sp>
        <p:nvSpPr>
          <p:cNvPr id="20" name="Text 15"/>
          <p:cNvSpPr/>
          <p:nvPr/>
        </p:nvSpPr>
        <p:spPr>
          <a:xfrm>
            <a:off x="6245352" y="1737360"/>
            <a:ext cx="2331720" cy="658368"/>
          </a:xfrm>
          <a:prstGeom prst="rect">
            <a:avLst/>
          </a:prstGeom>
          <a:noFill/>
          <a:ln/>
        </p:spPr>
        <p:txBody>
          <a:bodyPr wrap="square" rtlCol="0" anchor="t"/>
          <a:lstStyle/>
          <a:p>
            <a:pPr marL="0" indent="0" algn="l">
              <a:buNone/>
            </a:pPr>
            <a:r>
              <a:rPr lang="en-US" sz="1000" dirty="0">
                <a:solidFill>
                  <a:srgbClr val="CADCFC"/>
                </a:solidFill>
              </a:rPr>
              <a:t>Semanales del coordinador</a:t>
            </a:r>
            <a:endParaRPr lang="en-US" sz="1000" dirty="0"/>
          </a:p>
          <a:p>
            <a:pPr marL="0" indent="0" algn="l">
              <a:buNone/>
            </a:pPr>
            <a:r>
              <a:rPr lang="en-US" sz="1000" dirty="0">
                <a:solidFill>
                  <a:srgbClr val="CADCFC"/>
                </a:solidFill>
              </a:rPr>
              <a:t>en validación manual</a:t>
            </a:r>
            <a:endParaRPr lang="en-US" sz="1000" dirty="0"/>
          </a:p>
        </p:txBody>
      </p:sp>
      <p:sp>
        <p:nvSpPr>
          <p:cNvPr id="21" name="Shape 16"/>
          <p:cNvSpPr/>
          <p:nvPr/>
        </p:nvSpPr>
        <p:spPr>
          <a:xfrm>
            <a:off x="320040" y="2633472"/>
            <a:ext cx="8503920" cy="2304288"/>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s-CO"/>
          </a:p>
        </p:txBody>
      </p:sp>
      <p:pic>
        <p:nvPicPr>
          <p:cNvPr id="22" name="Image 3" descr="preencoded.png"/>
          <p:cNvPicPr>
            <a:picLocks noChangeAspect="1"/>
          </p:cNvPicPr>
          <p:nvPr/>
        </p:nvPicPr>
        <p:blipFill>
          <a:blip r:embed="rId6"/>
          <a:stretch>
            <a:fillRect/>
          </a:stretch>
        </p:blipFill>
        <p:spPr>
          <a:xfrm>
            <a:off x="457200" y="2724912"/>
            <a:ext cx="201168" cy="201168"/>
          </a:xfrm>
          <a:prstGeom prst="rect">
            <a:avLst/>
          </a:prstGeom>
        </p:spPr>
      </p:pic>
      <p:sp>
        <p:nvSpPr>
          <p:cNvPr id="23" name="Text 17"/>
          <p:cNvSpPr/>
          <p:nvPr/>
        </p:nvSpPr>
        <p:spPr>
          <a:xfrm>
            <a:off x="713232" y="2706624"/>
            <a:ext cx="3840480" cy="594360"/>
          </a:xfrm>
          <a:prstGeom prst="rect">
            <a:avLst/>
          </a:prstGeom>
          <a:noFill/>
          <a:ln/>
        </p:spPr>
        <p:txBody>
          <a:bodyPr wrap="square" rtlCol="0" anchor="t"/>
          <a:lstStyle/>
          <a:p>
            <a:pPr marL="0" indent="0" algn="l">
              <a:buNone/>
            </a:pPr>
            <a:r>
              <a:rPr lang="en-US" sz="950" dirty="0">
                <a:solidFill>
                  <a:srgbClr val="2D3A5A"/>
                </a:solidFill>
              </a:rPr>
              <a:t>Doble asignación de aulas y laboratorios: el ambiente aparece libre en el Excel pero ya está ocupado</a:t>
            </a:r>
            <a:endParaRPr lang="en-US" sz="950" dirty="0"/>
          </a:p>
        </p:txBody>
      </p:sp>
      <p:pic>
        <p:nvPicPr>
          <p:cNvPr id="24" name="Image 4" descr="preencoded.png"/>
          <p:cNvPicPr>
            <a:picLocks noChangeAspect="1"/>
          </p:cNvPicPr>
          <p:nvPr/>
        </p:nvPicPr>
        <p:blipFill>
          <a:blip r:embed="rId6"/>
          <a:stretch>
            <a:fillRect/>
          </a:stretch>
        </p:blipFill>
        <p:spPr>
          <a:xfrm>
            <a:off x="457200" y="3429000"/>
            <a:ext cx="201168" cy="201168"/>
          </a:xfrm>
          <a:prstGeom prst="rect">
            <a:avLst/>
          </a:prstGeom>
        </p:spPr>
      </p:pic>
      <p:sp>
        <p:nvSpPr>
          <p:cNvPr id="25" name="Text 18"/>
          <p:cNvSpPr/>
          <p:nvPr/>
        </p:nvSpPr>
        <p:spPr>
          <a:xfrm>
            <a:off x="713232" y="3410712"/>
            <a:ext cx="3840480" cy="594360"/>
          </a:xfrm>
          <a:prstGeom prst="rect">
            <a:avLst/>
          </a:prstGeom>
          <a:noFill/>
          <a:ln/>
        </p:spPr>
        <p:txBody>
          <a:bodyPr wrap="square" rtlCol="0" anchor="t"/>
          <a:lstStyle/>
          <a:p>
            <a:pPr marL="0" indent="0" algn="l">
              <a:buNone/>
            </a:pPr>
            <a:r>
              <a:rPr lang="en-US" sz="950" dirty="0">
                <a:solidFill>
                  <a:srgbClr val="2D3A5A"/>
                </a:solidFill>
              </a:rPr>
              <a:t>Información desactualizada circulando en WhatsApp — versiones viejas impresas en los pasillos</a:t>
            </a:r>
            <a:endParaRPr lang="en-US" sz="950" dirty="0"/>
          </a:p>
        </p:txBody>
      </p:sp>
      <p:pic>
        <p:nvPicPr>
          <p:cNvPr id="26" name="Image 5" descr="preencoded.png"/>
          <p:cNvPicPr>
            <a:picLocks noChangeAspect="1"/>
          </p:cNvPicPr>
          <p:nvPr/>
        </p:nvPicPr>
        <p:blipFill>
          <a:blip r:embed="rId7"/>
          <a:stretch>
            <a:fillRect/>
          </a:stretch>
        </p:blipFill>
        <p:spPr>
          <a:xfrm>
            <a:off x="457200" y="4133088"/>
            <a:ext cx="201168" cy="201168"/>
          </a:xfrm>
          <a:prstGeom prst="rect">
            <a:avLst/>
          </a:prstGeom>
        </p:spPr>
      </p:pic>
      <p:sp>
        <p:nvSpPr>
          <p:cNvPr id="27" name="Text 19"/>
          <p:cNvSpPr/>
          <p:nvPr/>
        </p:nvSpPr>
        <p:spPr>
          <a:xfrm>
            <a:off x="713232" y="4114800"/>
            <a:ext cx="3840480" cy="594360"/>
          </a:xfrm>
          <a:prstGeom prst="rect">
            <a:avLst/>
          </a:prstGeom>
          <a:noFill/>
          <a:ln/>
        </p:spPr>
        <p:txBody>
          <a:bodyPr wrap="square" rtlCol="0" anchor="t"/>
          <a:lstStyle/>
          <a:p>
            <a:pPr marL="0" indent="0" algn="l">
              <a:buNone/>
            </a:pPr>
            <a:r>
              <a:rPr lang="en-US" sz="950" dirty="0">
                <a:solidFill>
                  <a:srgbClr val="2D3A5A"/>
                </a:solidFill>
              </a:rPr>
              <a:t>Sin trazabilidad: los cambios de horario no quedan registrados, imposible auditar decisiones</a:t>
            </a:r>
            <a:endParaRPr lang="en-US" sz="950" dirty="0"/>
          </a:p>
        </p:txBody>
      </p:sp>
      <p:pic>
        <p:nvPicPr>
          <p:cNvPr id="28" name="Image 6" descr="preencoded.png"/>
          <p:cNvPicPr>
            <a:picLocks noChangeAspect="1"/>
          </p:cNvPicPr>
          <p:nvPr/>
        </p:nvPicPr>
        <p:blipFill>
          <a:blip r:embed="rId6"/>
          <a:stretch>
            <a:fillRect/>
          </a:stretch>
        </p:blipFill>
        <p:spPr>
          <a:xfrm>
            <a:off x="4754880" y="2724912"/>
            <a:ext cx="201168" cy="201168"/>
          </a:xfrm>
          <a:prstGeom prst="rect">
            <a:avLst/>
          </a:prstGeom>
        </p:spPr>
      </p:pic>
      <p:sp>
        <p:nvSpPr>
          <p:cNvPr id="29" name="Text 20"/>
          <p:cNvSpPr/>
          <p:nvPr/>
        </p:nvSpPr>
        <p:spPr>
          <a:xfrm>
            <a:off x="5010912" y="2706624"/>
            <a:ext cx="3657600" cy="594360"/>
          </a:xfrm>
          <a:prstGeom prst="rect">
            <a:avLst/>
          </a:prstGeom>
          <a:noFill/>
          <a:ln/>
        </p:spPr>
        <p:txBody>
          <a:bodyPr wrap="square" rtlCol="0" anchor="t"/>
          <a:lstStyle/>
          <a:p>
            <a:pPr marL="0" indent="0" algn="l">
              <a:buNone/>
            </a:pPr>
            <a:r>
              <a:rPr lang="en-US" sz="950" dirty="0">
                <a:solidFill>
                  <a:srgbClr val="2D3A5A"/>
                </a:solidFill>
              </a:rPr>
              <a:t>Dependencia crítica: 1-2 coordinadores 'conocen' el Excel — ante ausencias, la operación se paraliza</a:t>
            </a:r>
            <a:endParaRPr lang="en-US" sz="950" dirty="0"/>
          </a:p>
        </p:txBody>
      </p:sp>
      <p:pic>
        <p:nvPicPr>
          <p:cNvPr id="30" name="Image 7" descr="preencoded.png"/>
          <p:cNvPicPr>
            <a:picLocks noChangeAspect="1"/>
          </p:cNvPicPr>
          <p:nvPr/>
        </p:nvPicPr>
        <p:blipFill>
          <a:blip r:embed="rId7"/>
          <a:stretch>
            <a:fillRect/>
          </a:stretch>
        </p:blipFill>
        <p:spPr>
          <a:xfrm>
            <a:off x="4754880" y="3429000"/>
            <a:ext cx="201168" cy="201168"/>
          </a:xfrm>
          <a:prstGeom prst="rect">
            <a:avLst/>
          </a:prstGeom>
        </p:spPr>
      </p:pic>
      <p:sp>
        <p:nvSpPr>
          <p:cNvPr id="31" name="Text 21"/>
          <p:cNvSpPr/>
          <p:nvPr/>
        </p:nvSpPr>
        <p:spPr>
          <a:xfrm>
            <a:off x="5010912" y="3410712"/>
            <a:ext cx="3657600" cy="594360"/>
          </a:xfrm>
          <a:prstGeom prst="rect">
            <a:avLst/>
          </a:prstGeom>
          <a:noFill/>
          <a:ln/>
        </p:spPr>
        <p:txBody>
          <a:bodyPr wrap="square" rtlCol="0" anchor="t"/>
          <a:lstStyle/>
          <a:p>
            <a:pPr marL="0" indent="0" algn="l">
              <a:buNone/>
            </a:pPr>
            <a:r>
              <a:rPr lang="en-US" sz="950" dirty="0">
                <a:solidFill>
                  <a:srgbClr val="2D3A5A"/>
                </a:solidFill>
              </a:rPr>
              <a:t>Conflictos reactivos: los cruces solo se detectan cuando ocurren físicamente en el aula</a:t>
            </a:r>
            <a:endParaRPr lang="en-US" sz="950" dirty="0"/>
          </a:p>
        </p:txBody>
      </p:sp>
      <p:pic>
        <p:nvPicPr>
          <p:cNvPr id="32" name="Image 8" descr="preencoded.png"/>
          <p:cNvPicPr>
            <a:picLocks noChangeAspect="1"/>
          </p:cNvPicPr>
          <p:nvPr/>
        </p:nvPicPr>
        <p:blipFill>
          <a:blip r:embed="rId8"/>
          <a:stretch>
            <a:fillRect/>
          </a:stretch>
        </p:blipFill>
        <p:spPr>
          <a:xfrm>
            <a:off x="4754880" y="4133088"/>
            <a:ext cx="201168" cy="201168"/>
          </a:xfrm>
          <a:prstGeom prst="rect">
            <a:avLst/>
          </a:prstGeom>
        </p:spPr>
      </p:pic>
      <p:sp>
        <p:nvSpPr>
          <p:cNvPr id="33" name="Text 22"/>
          <p:cNvSpPr/>
          <p:nvPr/>
        </p:nvSpPr>
        <p:spPr>
          <a:xfrm>
            <a:off x="5010912" y="4114800"/>
            <a:ext cx="3657600" cy="594360"/>
          </a:xfrm>
          <a:prstGeom prst="rect">
            <a:avLst/>
          </a:prstGeom>
          <a:noFill/>
          <a:ln/>
        </p:spPr>
        <p:txBody>
          <a:bodyPr wrap="square" rtlCol="0" anchor="t"/>
          <a:lstStyle/>
          <a:p>
            <a:pPr marL="0" indent="0" algn="l">
              <a:buNone/>
            </a:pPr>
            <a:r>
              <a:rPr lang="en-US" sz="950" dirty="0">
                <a:solidFill>
                  <a:srgbClr val="2D3A5A"/>
                </a:solidFill>
              </a:rPr>
              <a:t>Baja accesibilidad: estudiantes e instructores deben pedir los horarios directamente al coordinador</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p:spPr>
        <p:txBody>
          <a:bodyPr/>
          <a:lstStyle/>
          <a:p>
            <a:endParaRPr lang="es-CO"/>
          </a:p>
        </p:txBody>
      </p:sp>
      <p:sp>
        <p:nvSpPr>
          <p:cNvPr id="3" name="Shape 1"/>
          <p:cNvSpPr/>
          <p:nvPr/>
        </p:nvSpPr>
        <p:spPr>
          <a:xfrm>
            <a:off x="0" y="0"/>
            <a:ext cx="109728" cy="960120"/>
          </a:xfrm>
          <a:prstGeom prst="rect">
            <a:avLst/>
          </a:prstGeom>
          <a:solidFill>
            <a:srgbClr val="00E676"/>
          </a:solidFill>
          <a:ln/>
        </p:spPr>
        <p:txBody>
          <a:bodyPr/>
          <a:lstStyle/>
          <a:p>
            <a:endParaRPr lang="es-CO"/>
          </a:p>
        </p:txBody>
      </p:sp>
      <p:sp>
        <p:nvSpPr>
          <p:cNvPr id="4" name="Text 2"/>
          <p:cNvSpPr/>
          <p:nvPr/>
        </p:nvSpPr>
        <p:spPr>
          <a:xfrm>
            <a:off x="164592" y="64008"/>
            <a:ext cx="777240" cy="804672"/>
          </a:xfrm>
          <a:prstGeom prst="rect">
            <a:avLst/>
          </a:prstGeom>
          <a:noFill/>
          <a:ln/>
        </p:spPr>
        <p:txBody>
          <a:bodyPr wrap="square" rtlCol="0" anchor="ctr"/>
          <a:lstStyle/>
          <a:p>
            <a:pPr marL="0" indent="0" algn="ctr">
              <a:buNone/>
            </a:pPr>
            <a:r>
              <a:rPr lang="en-US" sz="3000" b="1" dirty="0">
                <a:solidFill>
                  <a:srgbClr val="00E676"/>
                </a:solidFill>
                <a:latin typeface="Arial Black" pitchFamily="34" charset="0"/>
                <a:ea typeface="Arial Black" pitchFamily="34" charset="-122"/>
                <a:cs typeface="Arial Black" pitchFamily="34" charset="-120"/>
              </a:rPr>
              <a:t>03</a:t>
            </a:r>
            <a:endParaRPr lang="en-US" sz="3000" dirty="0"/>
          </a:p>
        </p:txBody>
      </p:sp>
      <p:sp>
        <p:nvSpPr>
          <p:cNvPr id="5" name="Text 3"/>
          <p:cNvSpPr/>
          <p:nvPr/>
        </p:nvSpPr>
        <p:spPr>
          <a:xfrm>
            <a:off x="822960" y="182880"/>
            <a:ext cx="8046720" cy="502920"/>
          </a:xfrm>
          <a:prstGeom prst="rect">
            <a:avLst/>
          </a:prstGeom>
          <a:noFill/>
          <a:ln/>
        </p:spPr>
        <p:txBody>
          <a:bodyPr wrap="square" rtlCol="0" anchor="ctr"/>
          <a:lstStyle/>
          <a:p>
            <a:pPr marL="0" indent="0" algn="l">
              <a:buNone/>
            </a:pPr>
            <a:r>
              <a:rPr lang="en-US" sz="2000" b="1" dirty="0">
                <a:solidFill>
                  <a:srgbClr val="FFFFFF"/>
                </a:solidFill>
                <a:latin typeface="Arial Black" pitchFamily="34" charset="0"/>
                <a:ea typeface="Arial Black" pitchFamily="34" charset="-122"/>
                <a:cs typeface="Arial Black" pitchFamily="34" charset="-120"/>
              </a:rPr>
              <a:t>LA SOLUCIÓN  ·  PRJ-SENA-SCHEDULE</a:t>
            </a:r>
            <a:endParaRPr lang="en-US" sz="2000" dirty="0"/>
          </a:p>
        </p:txBody>
      </p:sp>
      <p:sp>
        <p:nvSpPr>
          <p:cNvPr id="6" name="Shape 4"/>
          <p:cNvSpPr/>
          <p:nvPr/>
        </p:nvSpPr>
        <p:spPr>
          <a:xfrm>
            <a:off x="320040" y="1024128"/>
            <a:ext cx="8503920" cy="475488"/>
          </a:xfrm>
          <a:prstGeom prst="rect">
            <a:avLst/>
          </a:prstGeom>
          <a:solidFill>
            <a:srgbClr val="263580"/>
          </a:solidFill>
          <a:ln/>
        </p:spPr>
        <p:txBody>
          <a:bodyPr/>
          <a:lstStyle/>
          <a:p>
            <a:endParaRPr lang="es-CO"/>
          </a:p>
        </p:txBody>
      </p:sp>
      <p:sp>
        <p:nvSpPr>
          <p:cNvPr id="7" name="Text 5"/>
          <p:cNvSpPr/>
          <p:nvPr/>
        </p:nvSpPr>
        <p:spPr>
          <a:xfrm>
            <a:off x="457200" y="1024128"/>
            <a:ext cx="8321040" cy="475488"/>
          </a:xfrm>
          <a:prstGeom prst="rect">
            <a:avLst/>
          </a:prstGeom>
          <a:noFill/>
          <a:ln/>
        </p:spPr>
        <p:txBody>
          <a:bodyPr wrap="square" rtlCol="0" anchor="ctr"/>
          <a:lstStyle/>
          <a:p>
            <a:pPr marL="0" indent="0" algn="ctr">
              <a:buNone/>
            </a:pPr>
            <a:r>
              <a:rPr lang="en-US" sz="1100" i="1" dirty="0">
                <a:solidFill>
                  <a:srgbClr val="4FC3F7"/>
                </a:solidFill>
              </a:rPr>
              <a:t>"No reemplaza al coordinador — lo libera del trabajo repetitivo para enfocarse en lo pedagógico"</a:t>
            </a:r>
            <a:endParaRPr lang="en-US" sz="1100" dirty="0"/>
          </a:p>
        </p:txBody>
      </p:sp>
      <p:sp>
        <p:nvSpPr>
          <p:cNvPr id="8" name="Shape 6"/>
          <p:cNvSpPr/>
          <p:nvPr/>
        </p:nvSpPr>
        <p:spPr>
          <a:xfrm>
            <a:off x="320040" y="1600200"/>
            <a:ext cx="4114800" cy="3291840"/>
          </a:xfrm>
          <a:prstGeom prst="rect">
            <a:avLst/>
          </a:prstGeom>
          <a:solidFill>
            <a:srgbClr val="1A2456"/>
          </a:solidFill>
          <a:ln/>
        </p:spPr>
        <p:txBody>
          <a:bodyPr/>
          <a:lstStyle/>
          <a:p>
            <a:endParaRPr lang="es-CO"/>
          </a:p>
        </p:txBody>
      </p:sp>
      <p:sp>
        <p:nvSpPr>
          <p:cNvPr id="9" name="Text 7"/>
          <p:cNvSpPr/>
          <p:nvPr/>
        </p:nvSpPr>
        <p:spPr>
          <a:xfrm>
            <a:off x="411480" y="1664208"/>
            <a:ext cx="3931920" cy="292608"/>
          </a:xfrm>
          <a:prstGeom prst="rect">
            <a:avLst/>
          </a:prstGeom>
          <a:noFill/>
          <a:ln/>
        </p:spPr>
        <p:txBody>
          <a:bodyPr wrap="square" rtlCol="0" anchor="ctr"/>
          <a:lstStyle/>
          <a:p>
            <a:pPr marL="0" indent="0" algn="ctr">
              <a:buNone/>
            </a:pPr>
            <a:r>
              <a:rPr lang="en-US" sz="900" b="1" kern="0" spc="200" dirty="0">
                <a:solidFill>
                  <a:srgbClr val="4FC3F7"/>
                </a:solidFill>
              </a:rPr>
              <a:t>ARQUITECTURA HEXAGONAL</a:t>
            </a:r>
            <a:endParaRPr lang="en-US" sz="900" dirty="0"/>
          </a:p>
        </p:txBody>
      </p:sp>
      <p:sp>
        <p:nvSpPr>
          <p:cNvPr id="10" name="Shape 8"/>
          <p:cNvSpPr/>
          <p:nvPr/>
        </p:nvSpPr>
        <p:spPr>
          <a:xfrm>
            <a:off x="685800" y="2029968"/>
            <a:ext cx="3566160" cy="2606040"/>
          </a:xfrm>
          <a:prstGeom prst="ellipse">
            <a:avLst/>
          </a:prstGeom>
          <a:solidFill>
            <a:srgbClr val="1E2761">
              <a:alpha val="70000"/>
            </a:srgbClr>
          </a:solidFill>
          <a:ln w="19050">
            <a:solidFill>
              <a:srgbClr val="4FC3F7"/>
            </a:solidFill>
            <a:prstDash val="solid"/>
          </a:ln>
        </p:spPr>
        <p:txBody>
          <a:bodyPr/>
          <a:lstStyle/>
          <a:p>
            <a:endParaRPr lang="es-CO"/>
          </a:p>
        </p:txBody>
      </p:sp>
      <p:sp>
        <p:nvSpPr>
          <p:cNvPr id="11" name="Shape 9"/>
          <p:cNvSpPr/>
          <p:nvPr/>
        </p:nvSpPr>
        <p:spPr>
          <a:xfrm>
            <a:off x="1097280" y="2331720"/>
            <a:ext cx="2743200" cy="2011680"/>
          </a:xfrm>
          <a:prstGeom prst="ellipse">
            <a:avLst/>
          </a:prstGeom>
          <a:solidFill>
            <a:srgbClr val="263580">
              <a:alpha val="80000"/>
            </a:srgbClr>
          </a:solidFill>
          <a:ln w="15240">
            <a:solidFill>
              <a:srgbClr val="CADCFC"/>
            </a:solidFill>
            <a:prstDash val="solid"/>
          </a:ln>
        </p:spPr>
        <p:txBody>
          <a:bodyPr/>
          <a:lstStyle/>
          <a:p>
            <a:endParaRPr lang="es-CO"/>
          </a:p>
        </p:txBody>
      </p:sp>
      <p:sp>
        <p:nvSpPr>
          <p:cNvPr id="12" name="Shape 10"/>
          <p:cNvSpPr/>
          <p:nvPr/>
        </p:nvSpPr>
        <p:spPr>
          <a:xfrm>
            <a:off x="1645920" y="2697480"/>
            <a:ext cx="1645920" cy="1280160"/>
          </a:xfrm>
          <a:prstGeom prst="ellipse">
            <a:avLst/>
          </a:prstGeom>
          <a:solidFill>
            <a:srgbClr val="4FC3F7">
              <a:alpha val="85000"/>
            </a:srgbClr>
          </a:solidFill>
          <a:ln w="12700">
            <a:solidFill>
              <a:srgbClr val="FFFFFF"/>
            </a:solidFill>
            <a:prstDash val="solid"/>
          </a:ln>
        </p:spPr>
        <p:txBody>
          <a:bodyPr/>
          <a:lstStyle/>
          <a:p>
            <a:endParaRPr lang="es-CO"/>
          </a:p>
        </p:txBody>
      </p:sp>
      <p:sp>
        <p:nvSpPr>
          <p:cNvPr id="13" name="Text 11"/>
          <p:cNvSpPr/>
          <p:nvPr/>
        </p:nvSpPr>
        <p:spPr>
          <a:xfrm>
            <a:off x="1645920" y="2697480"/>
            <a:ext cx="1645920" cy="1280160"/>
          </a:xfrm>
          <a:prstGeom prst="rect">
            <a:avLst/>
          </a:prstGeom>
          <a:noFill/>
          <a:ln/>
        </p:spPr>
        <p:txBody>
          <a:bodyPr wrap="square" rtlCol="0" anchor="ctr"/>
          <a:lstStyle/>
          <a:p>
            <a:pPr marL="0" indent="0" algn="ctr">
              <a:buNone/>
            </a:pPr>
            <a:r>
              <a:rPr lang="en-US" sz="750" b="1" dirty="0">
                <a:solidFill>
                  <a:srgbClr val="FFFFFF"/>
                </a:solidFill>
              </a:rPr>
              <a:t>DOMINIO</a:t>
            </a:r>
            <a:endParaRPr lang="en-US" sz="750" dirty="0"/>
          </a:p>
          <a:p>
            <a:pPr marL="0" indent="0" algn="ctr">
              <a:buNone/>
            </a:pPr>
            <a:r>
              <a:rPr lang="en-US" sz="750" b="1" dirty="0">
                <a:solidFill>
                  <a:srgbClr val="FFFFFF"/>
                </a:solidFill>
              </a:rPr>
              <a:t>(Reglas</a:t>
            </a:r>
            <a:endParaRPr lang="en-US" sz="750" dirty="0"/>
          </a:p>
          <a:p>
            <a:pPr marL="0" indent="0" algn="ctr">
              <a:buNone/>
            </a:pPr>
            <a:r>
              <a:rPr lang="en-US" sz="750" b="1" dirty="0">
                <a:solidFill>
                  <a:srgbClr val="FFFFFF"/>
                </a:solidFill>
              </a:rPr>
              <a:t>de Negocio)</a:t>
            </a:r>
            <a:endParaRPr lang="en-US" sz="750" dirty="0"/>
          </a:p>
        </p:txBody>
      </p:sp>
      <p:sp>
        <p:nvSpPr>
          <p:cNvPr id="14" name="Text 12"/>
          <p:cNvSpPr/>
          <p:nvPr/>
        </p:nvSpPr>
        <p:spPr>
          <a:xfrm>
            <a:off x="640080" y="4407408"/>
            <a:ext cx="2377440" cy="228600"/>
          </a:xfrm>
          <a:prstGeom prst="rect">
            <a:avLst/>
          </a:prstGeom>
          <a:noFill/>
          <a:ln/>
        </p:spPr>
        <p:txBody>
          <a:bodyPr wrap="square" rtlCol="0" anchor="ctr"/>
          <a:lstStyle/>
          <a:p>
            <a:pPr marL="0" indent="0" algn="ctr">
              <a:buNone/>
            </a:pPr>
            <a:r>
              <a:rPr lang="en-US" sz="700" dirty="0">
                <a:solidFill>
                  <a:srgbClr val="4FC3F7"/>
                </a:solidFill>
              </a:rPr>
              <a:t>Puertos &amp; Adaptadores</a:t>
            </a:r>
            <a:endParaRPr lang="en-US" sz="700" dirty="0"/>
          </a:p>
        </p:txBody>
      </p:sp>
      <p:sp>
        <p:nvSpPr>
          <p:cNvPr id="15" name="Text 13"/>
          <p:cNvSpPr/>
          <p:nvPr/>
        </p:nvSpPr>
        <p:spPr>
          <a:xfrm>
            <a:off x="640080" y="4645152"/>
            <a:ext cx="2377440" cy="201168"/>
          </a:xfrm>
          <a:prstGeom prst="rect">
            <a:avLst/>
          </a:prstGeom>
          <a:noFill/>
          <a:ln/>
        </p:spPr>
        <p:txBody>
          <a:bodyPr wrap="square" rtlCol="0" anchor="ctr"/>
          <a:lstStyle/>
          <a:p>
            <a:pPr marL="0" indent="0" algn="ctr">
              <a:buNone/>
            </a:pPr>
            <a:r>
              <a:rPr lang="en-US" sz="700" dirty="0">
                <a:solidFill>
                  <a:srgbClr val="CADCFC"/>
                </a:solidFill>
              </a:rPr>
              <a:t>React UI  |  REST API</a:t>
            </a:r>
            <a:endParaRPr lang="en-US" sz="700" dirty="0"/>
          </a:p>
        </p:txBody>
      </p:sp>
      <p:sp>
        <p:nvSpPr>
          <p:cNvPr id="16" name="Shape 14"/>
          <p:cNvSpPr/>
          <p:nvPr/>
        </p:nvSpPr>
        <p:spPr>
          <a:xfrm>
            <a:off x="4572000" y="1600200"/>
            <a:ext cx="4251960" cy="3291840"/>
          </a:xfrm>
          <a:prstGeom prst="rect">
            <a:avLst/>
          </a:prstGeom>
          <a:solidFill>
            <a:srgbClr val="1A2456"/>
          </a:solidFill>
          <a:ln/>
        </p:spPr>
        <p:txBody>
          <a:bodyPr/>
          <a:lstStyle/>
          <a:p>
            <a:endParaRPr lang="es-CO"/>
          </a:p>
        </p:txBody>
      </p:sp>
      <p:sp>
        <p:nvSpPr>
          <p:cNvPr id="17" name="Text 15"/>
          <p:cNvSpPr/>
          <p:nvPr/>
        </p:nvSpPr>
        <p:spPr>
          <a:xfrm>
            <a:off x="4663440" y="1664208"/>
            <a:ext cx="4069080" cy="292608"/>
          </a:xfrm>
          <a:prstGeom prst="rect">
            <a:avLst/>
          </a:prstGeom>
          <a:noFill/>
          <a:ln/>
        </p:spPr>
        <p:txBody>
          <a:bodyPr wrap="square" rtlCol="0" anchor="ctr"/>
          <a:lstStyle/>
          <a:p>
            <a:pPr marL="0" indent="0" algn="ctr">
              <a:buNone/>
            </a:pPr>
            <a:r>
              <a:rPr lang="en-US" sz="900" b="1" kern="0" spc="200" dirty="0">
                <a:solidFill>
                  <a:srgbClr val="4FC3F7"/>
                </a:solidFill>
              </a:rPr>
              <a:t>CAPACIDADES CLAVE DEL MVP</a:t>
            </a:r>
            <a:endParaRPr lang="en-US" sz="900" dirty="0"/>
          </a:p>
        </p:txBody>
      </p:sp>
      <p:pic>
        <p:nvPicPr>
          <p:cNvPr id="18" name="Image 0" descr="preencoded.png"/>
          <p:cNvPicPr>
            <a:picLocks noChangeAspect="1"/>
          </p:cNvPicPr>
          <p:nvPr/>
        </p:nvPicPr>
        <p:blipFill>
          <a:blip r:embed="rId3"/>
          <a:stretch>
            <a:fillRect/>
          </a:stretch>
        </p:blipFill>
        <p:spPr>
          <a:xfrm>
            <a:off x="4736592" y="2084832"/>
            <a:ext cx="274320" cy="274320"/>
          </a:xfrm>
          <a:prstGeom prst="rect">
            <a:avLst/>
          </a:prstGeom>
        </p:spPr>
      </p:pic>
      <p:sp>
        <p:nvSpPr>
          <p:cNvPr id="19" name="Text 16"/>
          <p:cNvSpPr/>
          <p:nvPr/>
        </p:nvSpPr>
        <p:spPr>
          <a:xfrm>
            <a:off x="5074920" y="2029968"/>
            <a:ext cx="3611880" cy="274320"/>
          </a:xfrm>
          <a:prstGeom prst="rect">
            <a:avLst/>
          </a:prstGeom>
          <a:noFill/>
          <a:ln/>
        </p:spPr>
        <p:txBody>
          <a:bodyPr wrap="square" rtlCol="0" anchor="ctr"/>
          <a:lstStyle/>
          <a:p>
            <a:pPr marL="0" indent="0" algn="l">
              <a:buNone/>
            </a:pPr>
            <a:r>
              <a:rPr lang="en-US" sz="1050" b="1" dirty="0">
                <a:solidFill>
                  <a:srgbClr val="FFFFFF"/>
                </a:solidFill>
              </a:rPr>
              <a:t>Validación en Tiempo Real</a:t>
            </a:r>
            <a:endParaRPr lang="en-US" sz="1050" dirty="0"/>
          </a:p>
        </p:txBody>
      </p:sp>
      <p:sp>
        <p:nvSpPr>
          <p:cNvPr id="20" name="Text 17"/>
          <p:cNvSpPr/>
          <p:nvPr/>
        </p:nvSpPr>
        <p:spPr>
          <a:xfrm>
            <a:off x="5074920" y="2304288"/>
            <a:ext cx="3611880" cy="347472"/>
          </a:xfrm>
          <a:prstGeom prst="rect">
            <a:avLst/>
          </a:prstGeom>
          <a:noFill/>
          <a:ln/>
        </p:spPr>
        <p:txBody>
          <a:bodyPr wrap="square" rtlCol="0" anchor="t"/>
          <a:lstStyle/>
          <a:p>
            <a:pPr marL="0" indent="0" algn="l">
              <a:buNone/>
            </a:pPr>
            <a:r>
              <a:rPr lang="en-US" sz="900" dirty="0">
                <a:solidFill>
                  <a:srgbClr val="CADCFC"/>
                </a:solidFill>
              </a:rPr>
              <a:t>&lt;500ms — Detecta cruces antes de guardar</a:t>
            </a:r>
            <a:endParaRPr lang="en-US" sz="900" dirty="0"/>
          </a:p>
        </p:txBody>
      </p:sp>
      <p:sp>
        <p:nvSpPr>
          <p:cNvPr id="21" name="Shape 18"/>
          <p:cNvSpPr/>
          <p:nvPr/>
        </p:nvSpPr>
        <p:spPr>
          <a:xfrm>
            <a:off x="4736592" y="2688336"/>
            <a:ext cx="3931920" cy="18288"/>
          </a:xfrm>
          <a:prstGeom prst="rect">
            <a:avLst/>
          </a:prstGeom>
          <a:solidFill>
            <a:srgbClr val="263580"/>
          </a:solidFill>
          <a:ln/>
        </p:spPr>
        <p:txBody>
          <a:bodyPr/>
          <a:lstStyle/>
          <a:p>
            <a:endParaRPr lang="es-CO"/>
          </a:p>
        </p:txBody>
      </p:sp>
      <p:pic>
        <p:nvPicPr>
          <p:cNvPr id="22" name="Image 1" descr="preencoded.png"/>
          <p:cNvPicPr>
            <a:picLocks noChangeAspect="1"/>
          </p:cNvPicPr>
          <p:nvPr/>
        </p:nvPicPr>
        <p:blipFill>
          <a:blip r:embed="rId4"/>
          <a:stretch>
            <a:fillRect/>
          </a:stretch>
        </p:blipFill>
        <p:spPr>
          <a:xfrm>
            <a:off x="4736592" y="2834640"/>
            <a:ext cx="274320" cy="274320"/>
          </a:xfrm>
          <a:prstGeom prst="rect">
            <a:avLst/>
          </a:prstGeom>
        </p:spPr>
      </p:pic>
      <p:sp>
        <p:nvSpPr>
          <p:cNvPr id="23" name="Text 19"/>
          <p:cNvSpPr/>
          <p:nvPr/>
        </p:nvSpPr>
        <p:spPr>
          <a:xfrm>
            <a:off x="5074920" y="2779776"/>
            <a:ext cx="3611880" cy="274320"/>
          </a:xfrm>
          <a:prstGeom prst="rect">
            <a:avLst/>
          </a:prstGeom>
          <a:noFill/>
          <a:ln/>
        </p:spPr>
        <p:txBody>
          <a:bodyPr wrap="square" rtlCol="0" anchor="ctr"/>
          <a:lstStyle/>
          <a:p>
            <a:pPr marL="0" indent="0" algn="l">
              <a:buNone/>
            </a:pPr>
            <a:r>
              <a:rPr lang="en-US" sz="1050" b="1" dirty="0">
                <a:solidFill>
                  <a:srgbClr val="FFFFFF"/>
                </a:solidFill>
              </a:rPr>
              <a:t>Fuente Única de Verdad</a:t>
            </a:r>
            <a:endParaRPr lang="en-US" sz="1050" dirty="0"/>
          </a:p>
        </p:txBody>
      </p:sp>
      <p:sp>
        <p:nvSpPr>
          <p:cNvPr id="24" name="Text 20"/>
          <p:cNvSpPr/>
          <p:nvPr/>
        </p:nvSpPr>
        <p:spPr>
          <a:xfrm>
            <a:off x="5074920" y="3054096"/>
            <a:ext cx="3611880" cy="347472"/>
          </a:xfrm>
          <a:prstGeom prst="rect">
            <a:avLst/>
          </a:prstGeom>
          <a:noFill/>
          <a:ln/>
        </p:spPr>
        <p:txBody>
          <a:bodyPr wrap="square" rtlCol="0" anchor="t"/>
          <a:lstStyle/>
          <a:p>
            <a:pPr marL="0" indent="0" algn="l">
              <a:buNone/>
            </a:pPr>
            <a:r>
              <a:rPr lang="en-US" sz="900" dirty="0">
                <a:solidFill>
                  <a:srgbClr val="CADCFC"/>
                </a:solidFill>
              </a:rPr>
              <a:t>CRUD completo: ambientes, instructores, fichas</a:t>
            </a:r>
            <a:endParaRPr lang="en-US" sz="900" dirty="0"/>
          </a:p>
        </p:txBody>
      </p:sp>
      <p:sp>
        <p:nvSpPr>
          <p:cNvPr id="25" name="Shape 21"/>
          <p:cNvSpPr/>
          <p:nvPr/>
        </p:nvSpPr>
        <p:spPr>
          <a:xfrm>
            <a:off x="4736592" y="3438144"/>
            <a:ext cx="3931920" cy="18288"/>
          </a:xfrm>
          <a:prstGeom prst="rect">
            <a:avLst/>
          </a:prstGeom>
          <a:solidFill>
            <a:srgbClr val="263580"/>
          </a:solidFill>
          <a:ln/>
        </p:spPr>
        <p:txBody>
          <a:bodyPr/>
          <a:lstStyle/>
          <a:p>
            <a:endParaRPr lang="es-CO"/>
          </a:p>
        </p:txBody>
      </p:sp>
      <p:pic>
        <p:nvPicPr>
          <p:cNvPr id="26" name="Image 2" descr="preencoded.png"/>
          <p:cNvPicPr>
            <a:picLocks noChangeAspect="1"/>
          </p:cNvPicPr>
          <p:nvPr/>
        </p:nvPicPr>
        <p:blipFill>
          <a:blip r:embed="rId5"/>
          <a:stretch>
            <a:fillRect/>
          </a:stretch>
        </p:blipFill>
        <p:spPr>
          <a:xfrm>
            <a:off x="4736592" y="3584448"/>
            <a:ext cx="274320" cy="274320"/>
          </a:xfrm>
          <a:prstGeom prst="rect">
            <a:avLst/>
          </a:prstGeom>
        </p:spPr>
      </p:pic>
      <p:sp>
        <p:nvSpPr>
          <p:cNvPr id="27" name="Text 22"/>
          <p:cNvSpPr/>
          <p:nvPr/>
        </p:nvSpPr>
        <p:spPr>
          <a:xfrm>
            <a:off x="5074920" y="3529584"/>
            <a:ext cx="3611880" cy="274320"/>
          </a:xfrm>
          <a:prstGeom prst="rect">
            <a:avLst/>
          </a:prstGeom>
          <a:noFill/>
          <a:ln/>
        </p:spPr>
        <p:txBody>
          <a:bodyPr wrap="square" rtlCol="0" anchor="ctr"/>
          <a:lstStyle/>
          <a:p>
            <a:pPr marL="0" indent="0" algn="l">
              <a:buNone/>
            </a:pPr>
            <a:r>
              <a:rPr lang="en-US" sz="1050" b="1" dirty="0">
                <a:solidFill>
                  <a:srgbClr val="FFFFFF"/>
                </a:solidFill>
              </a:rPr>
              <a:t>Trazabilidad Total</a:t>
            </a:r>
            <a:endParaRPr lang="en-US" sz="1050" dirty="0"/>
          </a:p>
        </p:txBody>
      </p:sp>
      <p:sp>
        <p:nvSpPr>
          <p:cNvPr id="28" name="Text 23"/>
          <p:cNvSpPr/>
          <p:nvPr/>
        </p:nvSpPr>
        <p:spPr>
          <a:xfrm>
            <a:off x="5074920" y="3803904"/>
            <a:ext cx="3611880" cy="347472"/>
          </a:xfrm>
          <a:prstGeom prst="rect">
            <a:avLst/>
          </a:prstGeom>
          <a:noFill/>
          <a:ln/>
        </p:spPr>
        <p:txBody>
          <a:bodyPr wrap="square" rtlCol="0" anchor="t"/>
          <a:lstStyle/>
          <a:p>
            <a:pPr marL="0" indent="0" algn="l">
              <a:buNone/>
            </a:pPr>
            <a:r>
              <a:rPr lang="en-US" sz="900" dirty="0">
                <a:solidFill>
                  <a:srgbClr val="CADCFC"/>
                </a:solidFill>
              </a:rPr>
              <a:t>Timestamp + autor en cada cambio — auditable</a:t>
            </a:r>
            <a:endParaRPr lang="en-US" sz="900" dirty="0"/>
          </a:p>
        </p:txBody>
      </p:sp>
      <p:sp>
        <p:nvSpPr>
          <p:cNvPr id="29" name="Shape 24"/>
          <p:cNvSpPr/>
          <p:nvPr/>
        </p:nvSpPr>
        <p:spPr>
          <a:xfrm>
            <a:off x="4736592" y="4187952"/>
            <a:ext cx="3931920" cy="18288"/>
          </a:xfrm>
          <a:prstGeom prst="rect">
            <a:avLst/>
          </a:prstGeom>
          <a:solidFill>
            <a:srgbClr val="263580"/>
          </a:solidFill>
          <a:ln/>
        </p:spPr>
        <p:txBody>
          <a:bodyPr/>
          <a:lstStyle/>
          <a:p>
            <a:endParaRPr lang="es-CO"/>
          </a:p>
        </p:txBody>
      </p:sp>
      <p:pic>
        <p:nvPicPr>
          <p:cNvPr id="30" name="Image 3" descr="preencoded.png"/>
          <p:cNvPicPr>
            <a:picLocks noChangeAspect="1"/>
          </p:cNvPicPr>
          <p:nvPr/>
        </p:nvPicPr>
        <p:blipFill>
          <a:blip r:embed="rId6"/>
          <a:stretch>
            <a:fillRect/>
          </a:stretch>
        </p:blipFill>
        <p:spPr>
          <a:xfrm>
            <a:off x="4736592" y="4334256"/>
            <a:ext cx="274320" cy="274320"/>
          </a:xfrm>
          <a:prstGeom prst="rect">
            <a:avLst/>
          </a:prstGeom>
        </p:spPr>
      </p:pic>
      <p:sp>
        <p:nvSpPr>
          <p:cNvPr id="31" name="Text 25"/>
          <p:cNvSpPr/>
          <p:nvPr/>
        </p:nvSpPr>
        <p:spPr>
          <a:xfrm>
            <a:off x="5074920" y="4279392"/>
            <a:ext cx="3611880" cy="274320"/>
          </a:xfrm>
          <a:prstGeom prst="rect">
            <a:avLst/>
          </a:prstGeom>
          <a:noFill/>
          <a:ln/>
        </p:spPr>
        <p:txBody>
          <a:bodyPr wrap="square" rtlCol="0" anchor="ctr"/>
          <a:lstStyle/>
          <a:p>
            <a:pPr marL="0" indent="0" algn="l">
              <a:buNone/>
            </a:pPr>
            <a:r>
              <a:rPr lang="en-US" sz="1050" b="1" dirty="0">
                <a:solidFill>
                  <a:srgbClr val="FFFFFF"/>
                </a:solidFill>
              </a:rPr>
              <a:t>Acceso por Roles</a:t>
            </a:r>
            <a:endParaRPr lang="en-US" sz="1050" dirty="0"/>
          </a:p>
        </p:txBody>
      </p:sp>
      <p:sp>
        <p:nvSpPr>
          <p:cNvPr id="32" name="Text 26"/>
          <p:cNvSpPr/>
          <p:nvPr/>
        </p:nvSpPr>
        <p:spPr>
          <a:xfrm>
            <a:off x="5074920" y="4553712"/>
            <a:ext cx="3611880" cy="347472"/>
          </a:xfrm>
          <a:prstGeom prst="rect">
            <a:avLst/>
          </a:prstGeom>
          <a:noFill/>
          <a:ln/>
        </p:spPr>
        <p:txBody>
          <a:bodyPr wrap="square" rtlCol="0" anchor="t"/>
          <a:lstStyle/>
          <a:p>
            <a:pPr marL="0" indent="0" algn="l">
              <a:buNone/>
            </a:pPr>
            <a:r>
              <a:rPr lang="en-US" sz="900" dirty="0">
                <a:solidFill>
                  <a:srgbClr val="CADCFC"/>
                </a:solidFill>
              </a:rPr>
              <a:t>Coordinador, Instructor y Estudiante — sin intermediarios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p:spPr>
        <p:txBody>
          <a:bodyPr/>
          <a:lstStyle/>
          <a:p>
            <a:endParaRPr lang="es-CO"/>
          </a:p>
        </p:txBody>
      </p:sp>
      <p:sp>
        <p:nvSpPr>
          <p:cNvPr id="3" name="Shape 1"/>
          <p:cNvSpPr/>
          <p:nvPr/>
        </p:nvSpPr>
        <p:spPr>
          <a:xfrm>
            <a:off x="0" y="0"/>
            <a:ext cx="109728" cy="960120"/>
          </a:xfrm>
          <a:prstGeom prst="rect">
            <a:avLst/>
          </a:prstGeom>
          <a:solidFill>
            <a:srgbClr val="4FC3F7"/>
          </a:solidFill>
          <a:ln/>
        </p:spPr>
        <p:txBody>
          <a:bodyPr/>
          <a:lstStyle/>
          <a:p>
            <a:endParaRPr lang="es-CO"/>
          </a:p>
        </p:txBody>
      </p:sp>
      <p:sp>
        <p:nvSpPr>
          <p:cNvPr id="4" name="Text 2"/>
          <p:cNvSpPr/>
          <p:nvPr/>
        </p:nvSpPr>
        <p:spPr>
          <a:xfrm>
            <a:off x="164592" y="64008"/>
            <a:ext cx="777240" cy="804672"/>
          </a:xfrm>
          <a:prstGeom prst="rect">
            <a:avLst/>
          </a:prstGeom>
          <a:noFill/>
          <a:ln/>
        </p:spPr>
        <p:txBody>
          <a:bodyPr wrap="square" rtlCol="0" anchor="ctr"/>
          <a:lstStyle/>
          <a:p>
            <a:pPr marL="0" indent="0" algn="ctr">
              <a:buNone/>
            </a:pPr>
            <a:r>
              <a:rPr lang="en-US" sz="3000" b="1" dirty="0">
                <a:solidFill>
                  <a:srgbClr val="4FC3F7"/>
                </a:solidFill>
                <a:latin typeface="Arial Black" pitchFamily="34" charset="0"/>
                <a:ea typeface="Arial Black" pitchFamily="34" charset="-122"/>
                <a:cs typeface="Arial Black" pitchFamily="34" charset="-120"/>
              </a:rPr>
              <a:t>04</a:t>
            </a:r>
            <a:endParaRPr lang="en-US" sz="3000" dirty="0"/>
          </a:p>
        </p:txBody>
      </p:sp>
      <p:sp>
        <p:nvSpPr>
          <p:cNvPr id="5" name="Text 3"/>
          <p:cNvSpPr/>
          <p:nvPr/>
        </p:nvSpPr>
        <p:spPr>
          <a:xfrm>
            <a:off x="822960" y="182880"/>
            <a:ext cx="8046720" cy="502920"/>
          </a:xfrm>
          <a:prstGeom prst="rect">
            <a:avLst/>
          </a:prstGeom>
          <a:noFill/>
          <a:ln/>
        </p:spPr>
        <p:txBody>
          <a:bodyPr wrap="square" rtlCol="0" anchor="ctr"/>
          <a:lstStyle/>
          <a:p>
            <a:pPr marL="0" indent="0" algn="l">
              <a:buNone/>
            </a:pPr>
            <a:r>
              <a:rPr lang="en-US" sz="2000" b="1" dirty="0">
                <a:solidFill>
                  <a:srgbClr val="FFFFFF"/>
                </a:solidFill>
                <a:latin typeface="Arial Black" pitchFamily="34" charset="0"/>
                <a:ea typeface="Arial Black" pitchFamily="34" charset="-122"/>
                <a:cs typeface="Arial Black" pitchFamily="34" charset="-120"/>
              </a:rPr>
              <a:t>VIABILIDAD  ·  Stack Tecnológico</a:t>
            </a:r>
            <a:endParaRPr lang="en-US" sz="2000" dirty="0"/>
          </a:p>
        </p:txBody>
      </p:sp>
      <p:sp>
        <p:nvSpPr>
          <p:cNvPr id="6" name="Shape 4"/>
          <p:cNvSpPr/>
          <p:nvPr/>
        </p:nvSpPr>
        <p:spPr>
          <a:xfrm>
            <a:off x="320040" y="1078992"/>
            <a:ext cx="2057400" cy="1536192"/>
          </a:xfrm>
          <a:prstGeom prst="rect">
            <a:avLst/>
          </a:prstGeom>
          <a:solidFill>
            <a:srgbClr val="1E2761"/>
          </a:solidFill>
          <a:ln/>
          <a:effectLst>
            <a:outerShdw blurRad="101600" dist="38100" dir="8100000" algn="bl" rotWithShape="0">
              <a:srgbClr val="000000">
                <a:alpha val="15000"/>
              </a:srgbClr>
            </a:outerShdw>
          </a:effectLst>
        </p:spPr>
        <p:txBody>
          <a:bodyPr/>
          <a:lstStyle/>
          <a:p>
            <a:endParaRPr lang="es-CO"/>
          </a:p>
        </p:txBody>
      </p:sp>
      <p:sp>
        <p:nvSpPr>
          <p:cNvPr id="7" name="Shape 5"/>
          <p:cNvSpPr/>
          <p:nvPr/>
        </p:nvSpPr>
        <p:spPr>
          <a:xfrm>
            <a:off x="320040" y="1078992"/>
            <a:ext cx="2057400" cy="54864"/>
          </a:xfrm>
          <a:prstGeom prst="rect">
            <a:avLst/>
          </a:prstGeom>
          <a:solidFill>
            <a:srgbClr val="4FC3F7"/>
          </a:solidFill>
          <a:ln/>
        </p:spPr>
        <p:txBody>
          <a:bodyPr/>
          <a:lstStyle/>
          <a:p>
            <a:endParaRPr lang="es-CO"/>
          </a:p>
        </p:txBody>
      </p:sp>
      <p:pic>
        <p:nvPicPr>
          <p:cNvPr id="8" name="Image 0" descr="preencoded.png"/>
          <p:cNvPicPr>
            <a:picLocks noChangeAspect="1"/>
          </p:cNvPicPr>
          <p:nvPr/>
        </p:nvPicPr>
        <p:blipFill>
          <a:blip r:embed="rId3"/>
          <a:stretch>
            <a:fillRect/>
          </a:stretch>
        </p:blipFill>
        <p:spPr>
          <a:xfrm>
            <a:off x="429768" y="1197864"/>
            <a:ext cx="384048" cy="384048"/>
          </a:xfrm>
          <a:prstGeom prst="rect">
            <a:avLst/>
          </a:prstGeom>
        </p:spPr>
      </p:pic>
      <p:sp>
        <p:nvSpPr>
          <p:cNvPr id="9" name="Text 6"/>
          <p:cNvSpPr/>
          <p:nvPr/>
        </p:nvSpPr>
        <p:spPr>
          <a:xfrm>
            <a:off x="850392" y="1188720"/>
            <a:ext cx="1417320" cy="256032"/>
          </a:xfrm>
          <a:prstGeom prst="rect">
            <a:avLst/>
          </a:prstGeom>
          <a:noFill/>
          <a:ln/>
        </p:spPr>
        <p:txBody>
          <a:bodyPr wrap="square" rtlCol="0" anchor="ctr"/>
          <a:lstStyle/>
          <a:p>
            <a:pPr marL="0" indent="0" algn="l">
              <a:buNone/>
            </a:pPr>
            <a:r>
              <a:rPr lang="en-US" sz="1400" b="1" dirty="0">
                <a:solidFill>
                  <a:srgbClr val="4FC3F7"/>
                </a:solidFill>
                <a:latin typeface="Arial Black" pitchFamily="34" charset="0"/>
                <a:ea typeface="Arial Black" pitchFamily="34" charset="-122"/>
                <a:cs typeface="Arial Black" pitchFamily="34" charset="-120"/>
              </a:rPr>
              <a:t>Go</a:t>
            </a:r>
            <a:endParaRPr lang="en-US" sz="1400" dirty="0"/>
          </a:p>
        </p:txBody>
      </p:sp>
      <p:sp>
        <p:nvSpPr>
          <p:cNvPr id="10" name="Text 7"/>
          <p:cNvSpPr/>
          <p:nvPr/>
        </p:nvSpPr>
        <p:spPr>
          <a:xfrm>
            <a:off x="850392" y="1444752"/>
            <a:ext cx="1417320" cy="201168"/>
          </a:xfrm>
          <a:prstGeom prst="rect">
            <a:avLst/>
          </a:prstGeom>
          <a:noFill/>
          <a:ln/>
        </p:spPr>
        <p:txBody>
          <a:bodyPr wrap="square" rtlCol="0" anchor="ctr"/>
          <a:lstStyle/>
          <a:p>
            <a:pPr marL="0" indent="0" algn="l">
              <a:buNone/>
            </a:pPr>
            <a:r>
              <a:rPr lang="en-US" sz="800" dirty="0">
                <a:solidFill>
                  <a:srgbClr val="CADCFC"/>
                </a:solidFill>
              </a:rPr>
              <a:t>Backend</a:t>
            </a:r>
            <a:endParaRPr lang="en-US" sz="800" dirty="0"/>
          </a:p>
        </p:txBody>
      </p:sp>
      <p:sp>
        <p:nvSpPr>
          <p:cNvPr id="11" name="Shape 8"/>
          <p:cNvSpPr/>
          <p:nvPr/>
        </p:nvSpPr>
        <p:spPr>
          <a:xfrm>
            <a:off x="429768" y="1682496"/>
            <a:ext cx="1828800" cy="18288"/>
          </a:xfrm>
          <a:prstGeom prst="rect">
            <a:avLst/>
          </a:prstGeom>
          <a:solidFill>
            <a:srgbClr val="263580"/>
          </a:solidFill>
          <a:ln/>
        </p:spPr>
        <p:txBody>
          <a:bodyPr/>
          <a:lstStyle/>
          <a:p>
            <a:endParaRPr lang="es-CO"/>
          </a:p>
        </p:txBody>
      </p:sp>
      <p:sp>
        <p:nvSpPr>
          <p:cNvPr id="12" name="Text 9"/>
          <p:cNvSpPr/>
          <p:nvPr/>
        </p:nvSpPr>
        <p:spPr>
          <a:xfrm>
            <a:off x="429768" y="1737360"/>
            <a:ext cx="1828800" cy="804672"/>
          </a:xfrm>
          <a:prstGeom prst="rect">
            <a:avLst/>
          </a:prstGeom>
          <a:noFill/>
          <a:ln/>
        </p:spPr>
        <p:txBody>
          <a:bodyPr wrap="square" rtlCol="0" anchor="t"/>
          <a:lstStyle/>
          <a:p>
            <a:pPr marL="0" indent="0" algn="l">
              <a:buNone/>
            </a:pPr>
            <a:r>
              <a:rPr lang="en-US" sz="900" dirty="0">
                <a:solidFill>
                  <a:srgbClr val="CADCFC"/>
                </a:solidFill>
              </a:rPr>
              <a:t>Alto rendimiento,</a:t>
            </a:r>
            <a:endParaRPr lang="en-US" sz="900" dirty="0"/>
          </a:p>
          <a:p>
            <a:pPr marL="0" indent="0" algn="l">
              <a:buNone/>
            </a:pPr>
            <a:r>
              <a:rPr lang="en-US" sz="900" dirty="0">
                <a:solidFill>
                  <a:srgbClr val="CADCFC"/>
                </a:solidFill>
              </a:rPr>
              <a:t>concurrencia nativa,</a:t>
            </a:r>
            <a:endParaRPr lang="en-US" sz="900" dirty="0"/>
          </a:p>
          <a:p>
            <a:pPr marL="0" indent="0" algn="l">
              <a:buNone/>
            </a:pPr>
            <a:r>
              <a:rPr lang="en-US" sz="900" dirty="0">
                <a:solidFill>
                  <a:srgbClr val="CADCFC"/>
                </a:solidFill>
              </a:rPr>
              <a:t>binario único</a:t>
            </a:r>
            <a:endParaRPr lang="en-US" sz="900" dirty="0"/>
          </a:p>
        </p:txBody>
      </p:sp>
      <p:sp>
        <p:nvSpPr>
          <p:cNvPr id="13" name="Shape 10"/>
          <p:cNvSpPr/>
          <p:nvPr/>
        </p:nvSpPr>
        <p:spPr>
          <a:xfrm>
            <a:off x="2487168" y="1078992"/>
            <a:ext cx="2057400" cy="1536192"/>
          </a:xfrm>
          <a:prstGeom prst="rect">
            <a:avLst/>
          </a:prstGeom>
          <a:solidFill>
            <a:srgbClr val="1E2761"/>
          </a:solidFill>
          <a:ln/>
          <a:effectLst>
            <a:outerShdw blurRad="101600" dist="38100" dir="8100000" algn="bl" rotWithShape="0">
              <a:srgbClr val="000000">
                <a:alpha val="15000"/>
              </a:srgbClr>
            </a:outerShdw>
          </a:effectLst>
        </p:spPr>
        <p:txBody>
          <a:bodyPr/>
          <a:lstStyle/>
          <a:p>
            <a:endParaRPr lang="es-CO"/>
          </a:p>
        </p:txBody>
      </p:sp>
      <p:sp>
        <p:nvSpPr>
          <p:cNvPr id="14" name="Shape 11"/>
          <p:cNvSpPr/>
          <p:nvPr/>
        </p:nvSpPr>
        <p:spPr>
          <a:xfrm>
            <a:off x="2487168" y="1078992"/>
            <a:ext cx="2057400" cy="54864"/>
          </a:xfrm>
          <a:prstGeom prst="rect">
            <a:avLst/>
          </a:prstGeom>
          <a:solidFill>
            <a:srgbClr val="CADCFC"/>
          </a:solidFill>
          <a:ln/>
        </p:spPr>
        <p:txBody>
          <a:bodyPr/>
          <a:lstStyle/>
          <a:p>
            <a:endParaRPr lang="es-CO"/>
          </a:p>
        </p:txBody>
      </p:sp>
      <p:pic>
        <p:nvPicPr>
          <p:cNvPr id="15" name="Image 1" descr="preencoded.png"/>
          <p:cNvPicPr>
            <a:picLocks noChangeAspect="1"/>
          </p:cNvPicPr>
          <p:nvPr/>
        </p:nvPicPr>
        <p:blipFill>
          <a:blip r:embed="rId4"/>
          <a:stretch>
            <a:fillRect/>
          </a:stretch>
        </p:blipFill>
        <p:spPr>
          <a:xfrm>
            <a:off x="2596896" y="1197864"/>
            <a:ext cx="384048" cy="384048"/>
          </a:xfrm>
          <a:prstGeom prst="rect">
            <a:avLst/>
          </a:prstGeom>
        </p:spPr>
      </p:pic>
      <p:sp>
        <p:nvSpPr>
          <p:cNvPr id="16" name="Text 12"/>
          <p:cNvSpPr/>
          <p:nvPr/>
        </p:nvSpPr>
        <p:spPr>
          <a:xfrm>
            <a:off x="3017520" y="1188720"/>
            <a:ext cx="1417320" cy="256032"/>
          </a:xfrm>
          <a:prstGeom prst="rect">
            <a:avLst/>
          </a:prstGeom>
          <a:noFill/>
          <a:ln/>
        </p:spPr>
        <p:txBody>
          <a:bodyPr wrap="square" rtlCol="0" anchor="ctr"/>
          <a:lstStyle/>
          <a:p>
            <a:pPr marL="0" indent="0" algn="l">
              <a:buNone/>
            </a:pPr>
            <a:r>
              <a:rPr lang="en-US" sz="1400" b="1" dirty="0">
                <a:solidFill>
                  <a:srgbClr val="CADCFC"/>
                </a:solidFill>
                <a:latin typeface="Arial Black" pitchFamily="34" charset="0"/>
                <a:ea typeface="Arial Black" pitchFamily="34" charset="-122"/>
                <a:cs typeface="Arial Black" pitchFamily="34" charset="-120"/>
              </a:rPr>
              <a:t>React</a:t>
            </a:r>
            <a:endParaRPr lang="en-US" sz="1400" dirty="0"/>
          </a:p>
        </p:txBody>
      </p:sp>
      <p:sp>
        <p:nvSpPr>
          <p:cNvPr id="17" name="Text 13"/>
          <p:cNvSpPr/>
          <p:nvPr/>
        </p:nvSpPr>
        <p:spPr>
          <a:xfrm>
            <a:off x="3017520" y="1444752"/>
            <a:ext cx="1417320" cy="201168"/>
          </a:xfrm>
          <a:prstGeom prst="rect">
            <a:avLst/>
          </a:prstGeom>
          <a:noFill/>
          <a:ln/>
        </p:spPr>
        <p:txBody>
          <a:bodyPr wrap="square" rtlCol="0" anchor="ctr"/>
          <a:lstStyle/>
          <a:p>
            <a:pPr marL="0" indent="0" algn="l">
              <a:buNone/>
            </a:pPr>
            <a:r>
              <a:rPr lang="en-US" sz="800" dirty="0">
                <a:solidFill>
                  <a:srgbClr val="CADCFC"/>
                </a:solidFill>
              </a:rPr>
              <a:t>Frontend</a:t>
            </a:r>
            <a:endParaRPr lang="en-US" sz="800" dirty="0"/>
          </a:p>
        </p:txBody>
      </p:sp>
      <p:sp>
        <p:nvSpPr>
          <p:cNvPr id="18" name="Shape 14"/>
          <p:cNvSpPr/>
          <p:nvPr/>
        </p:nvSpPr>
        <p:spPr>
          <a:xfrm>
            <a:off x="2596896" y="1682496"/>
            <a:ext cx="1828800" cy="18288"/>
          </a:xfrm>
          <a:prstGeom prst="rect">
            <a:avLst/>
          </a:prstGeom>
          <a:solidFill>
            <a:srgbClr val="263580"/>
          </a:solidFill>
          <a:ln/>
        </p:spPr>
        <p:txBody>
          <a:bodyPr/>
          <a:lstStyle/>
          <a:p>
            <a:endParaRPr lang="es-CO"/>
          </a:p>
        </p:txBody>
      </p:sp>
      <p:sp>
        <p:nvSpPr>
          <p:cNvPr id="19" name="Text 15"/>
          <p:cNvSpPr/>
          <p:nvPr/>
        </p:nvSpPr>
        <p:spPr>
          <a:xfrm>
            <a:off x="2596896" y="1737360"/>
            <a:ext cx="1828800" cy="804672"/>
          </a:xfrm>
          <a:prstGeom prst="rect">
            <a:avLst/>
          </a:prstGeom>
          <a:noFill/>
          <a:ln/>
        </p:spPr>
        <p:txBody>
          <a:bodyPr wrap="square" rtlCol="0" anchor="t"/>
          <a:lstStyle/>
          <a:p>
            <a:pPr marL="0" indent="0" algn="l">
              <a:buNone/>
            </a:pPr>
            <a:r>
              <a:rPr lang="en-US" sz="900" dirty="0">
                <a:solidFill>
                  <a:srgbClr val="CADCFC"/>
                </a:solidFill>
              </a:rPr>
              <a:t>UI reactiva, componentes</a:t>
            </a:r>
            <a:endParaRPr lang="en-US" sz="900" dirty="0"/>
          </a:p>
          <a:p>
            <a:pPr marL="0" indent="0" algn="l">
              <a:buNone/>
            </a:pPr>
            <a:r>
              <a:rPr lang="en-US" sz="900" dirty="0">
                <a:solidFill>
                  <a:srgbClr val="CADCFC"/>
                </a:solidFill>
              </a:rPr>
              <a:t>reutilizables, calendario</a:t>
            </a:r>
            <a:endParaRPr lang="en-US" sz="900" dirty="0"/>
          </a:p>
          <a:p>
            <a:pPr marL="0" indent="0" algn="l">
              <a:buNone/>
            </a:pPr>
            <a:r>
              <a:rPr lang="en-US" sz="900" dirty="0">
                <a:solidFill>
                  <a:srgbClr val="CADCFC"/>
                </a:solidFill>
              </a:rPr>
              <a:t>interactivo</a:t>
            </a:r>
            <a:endParaRPr lang="en-US" sz="900" dirty="0"/>
          </a:p>
        </p:txBody>
      </p:sp>
      <p:sp>
        <p:nvSpPr>
          <p:cNvPr id="20" name="Shape 16"/>
          <p:cNvSpPr/>
          <p:nvPr/>
        </p:nvSpPr>
        <p:spPr>
          <a:xfrm>
            <a:off x="4654296" y="1078992"/>
            <a:ext cx="2057400" cy="1536192"/>
          </a:xfrm>
          <a:prstGeom prst="rect">
            <a:avLst/>
          </a:prstGeom>
          <a:solidFill>
            <a:srgbClr val="1E2761"/>
          </a:solidFill>
          <a:ln/>
          <a:effectLst>
            <a:outerShdw blurRad="101600" dist="38100" dir="8100000" algn="bl" rotWithShape="0">
              <a:srgbClr val="000000">
                <a:alpha val="15000"/>
              </a:srgbClr>
            </a:outerShdw>
          </a:effectLst>
        </p:spPr>
        <p:txBody>
          <a:bodyPr/>
          <a:lstStyle/>
          <a:p>
            <a:endParaRPr lang="es-CO"/>
          </a:p>
        </p:txBody>
      </p:sp>
      <p:sp>
        <p:nvSpPr>
          <p:cNvPr id="21" name="Shape 17"/>
          <p:cNvSpPr/>
          <p:nvPr/>
        </p:nvSpPr>
        <p:spPr>
          <a:xfrm>
            <a:off x="4654296" y="1078992"/>
            <a:ext cx="2057400" cy="54864"/>
          </a:xfrm>
          <a:prstGeom prst="rect">
            <a:avLst/>
          </a:prstGeom>
          <a:solidFill>
            <a:srgbClr val="FFB300"/>
          </a:solidFill>
          <a:ln/>
        </p:spPr>
        <p:txBody>
          <a:bodyPr/>
          <a:lstStyle/>
          <a:p>
            <a:endParaRPr lang="es-CO"/>
          </a:p>
        </p:txBody>
      </p:sp>
      <p:pic>
        <p:nvPicPr>
          <p:cNvPr id="22" name="Image 2" descr="preencoded.png"/>
          <p:cNvPicPr>
            <a:picLocks noChangeAspect="1"/>
          </p:cNvPicPr>
          <p:nvPr/>
        </p:nvPicPr>
        <p:blipFill>
          <a:blip r:embed="rId5"/>
          <a:stretch>
            <a:fillRect/>
          </a:stretch>
        </p:blipFill>
        <p:spPr>
          <a:xfrm>
            <a:off x="4764024" y="1197864"/>
            <a:ext cx="384048" cy="384048"/>
          </a:xfrm>
          <a:prstGeom prst="rect">
            <a:avLst/>
          </a:prstGeom>
        </p:spPr>
      </p:pic>
      <p:sp>
        <p:nvSpPr>
          <p:cNvPr id="23" name="Text 18"/>
          <p:cNvSpPr/>
          <p:nvPr/>
        </p:nvSpPr>
        <p:spPr>
          <a:xfrm>
            <a:off x="5184648" y="1188720"/>
            <a:ext cx="1417320" cy="256032"/>
          </a:xfrm>
          <a:prstGeom prst="rect">
            <a:avLst/>
          </a:prstGeom>
          <a:noFill/>
          <a:ln/>
        </p:spPr>
        <p:txBody>
          <a:bodyPr wrap="square" rtlCol="0" anchor="ctr"/>
          <a:lstStyle/>
          <a:p>
            <a:pPr marL="0" indent="0" algn="l">
              <a:buNone/>
            </a:pPr>
            <a:r>
              <a:rPr lang="en-US" sz="1400" b="1" dirty="0">
                <a:solidFill>
                  <a:srgbClr val="FFB300"/>
                </a:solidFill>
                <a:latin typeface="Arial Black" pitchFamily="34" charset="0"/>
                <a:ea typeface="Arial Black" pitchFamily="34" charset="-122"/>
                <a:cs typeface="Arial Black" pitchFamily="34" charset="-120"/>
              </a:rPr>
              <a:t>PostgreSQL</a:t>
            </a:r>
            <a:endParaRPr lang="en-US" sz="1400" dirty="0"/>
          </a:p>
        </p:txBody>
      </p:sp>
      <p:sp>
        <p:nvSpPr>
          <p:cNvPr id="24" name="Text 19"/>
          <p:cNvSpPr/>
          <p:nvPr/>
        </p:nvSpPr>
        <p:spPr>
          <a:xfrm>
            <a:off x="5184648" y="1444752"/>
            <a:ext cx="1417320" cy="201168"/>
          </a:xfrm>
          <a:prstGeom prst="rect">
            <a:avLst/>
          </a:prstGeom>
          <a:noFill/>
          <a:ln/>
        </p:spPr>
        <p:txBody>
          <a:bodyPr wrap="square" rtlCol="0" anchor="ctr"/>
          <a:lstStyle/>
          <a:p>
            <a:pPr marL="0" indent="0" algn="l">
              <a:buNone/>
            </a:pPr>
            <a:r>
              <a:rPr lang="en-US" sz="800" dirty="0">
                <a:solidFill>
                  <a:srgbClr val="CADCFC"/>
                </a:solidFill>
              </a:rPr>
              <a:t>Base de Datos</a:t>
            </a:r>
            <a:endParaRPr lang="en-US" sz="800" dirty="0"/>
          </a:p>
        </p:txBody>
      </p:sp>
      <p:sp>
        <p:nvSpPr>
          <p:cNvPr id="25" name="Shape 20"/>
          <p:cNvSpPr/>
          <p:nvPr/>
        </p:nvSpPr>
        <p:spPr>
          <a:xfrm>
            <a:off x="4764024" y="1682496"/>
            <a:ext cx="1828800" cy="18288"/>
          </a:xfrm>
          <a:prstGeom prst="rect">
            <a:avLst/>
          </a:prstGeom>
          <a:solidFill>
            <a:srgbClr val="263580"/>
          </a:solidFill>
          <a:ln/>
        </p:spPr>
        <p:txBody>
          <a:bodyPr/>
          <a:lstStyle/>
          <a:p>
            <a:endParaRPr lang="es-CO"/>
          </a:p>
        </p:txBody>
      </p:sp>
      <p:sp>
        <p:nvSpPr>
          <p:cNvPr id="26" name="Text 21"/>
          <p:cNvSpPr/>
          <p:nvPr/>
        </p:nvSpPr>
        <p:spPr>
          <a:xfrm>
            <a:off x="4764024" y="1737360"/>
            <a:ext cx="1828800" cy="804672"/>
          </a:xfrm>
          <a:prstGeom prst="rect">
            <a:avLst/>
          </a:prstGeom>
          <a:noFill/>
          <a:ln/>
        </p:spPr>
        <p:txBody>
          <a:bodyPr wrap="square" rtlCol="0" anchor="t"/>
          <a:lstStyle/>
          <a:p>
            <a:pPr marL="0" indent="0" algn="l">
              <a:buNone/>
            </a:pPr>
            <a:r>
              <a:rPr lang="en-US" sz="900" dirty="0">
                <a:solidFill>
                  <a:srgbClr val="CADCFC"/>
                </a:solidFill>
              </a:rPr>
              <a:t>ACID, relacional,</a:t>
            </a:r>
            <a:endParaRPr lang="en-US" sz="900" dirty="0"/>
          </a:p>
          <a:p>
            <a:pPr marL="0" indent="0" algn="l">
              <a:buNone/>
            </a:pPr>
            <a:r>
              <a:rPr lang="en-US" sz="900" dirty="0">
                <a:solidFill>
                  <a:srgbClr val="CADCFC"/>
                </a:solidFill>
              </a:rPr>
              <a:t>optimizado para consultas</a:t>
            </a:r>
            <a:endParaRPr lang="en-US" sz="900" dirty="0"/>
          </a:p>
          <a:p>
            <a:pPr marL="0" indent="0" algn="l">
              <a:buNone/>
            </a:pPr>
            <a:r>
              <a:rPr lang="en-US" sz="900" dirty="0">
                <a:solidFill>
                  <a:srgbClr val="CADCFC"/>
                </a:solidFill>
              </a:rPr>
              <a:t>de horarios complejas</a:t>
            </a:r>
            <a:endParaRPr lang="en-US" sz="900" dirty="0"/>
          </a:p>
        </p:txBody>
      </p:sp>
      <p:sp>
        <p:nvSpPr>
          <p:cNvPr id="27" name="Shape 22"/>
          <p:cNvSpPr/>
          <p:nvPr/>
        </p:nvSpPr>
        <p:spPr>
          <a:xfrm>
            <a:off x="6821424" y="1078992"/>
            <a:ext cx="2057400" cy="1536192"/>
          </a:xfrm>
          <a:prstGeom prst="rect">
            <a:avLst/>
          </a:prstGeom>
          <a:solidFill>
            <a:srgbClr val="1E2761"/>
          </a:solidFill>
          <a:ln/>
          <a:effectLst>
            <a:outerShdw blurRad="101600" dist="38100" dir="8100000" algn="bl" rotWithShape="0">
              <a:srgbClr val="000000">
                <a:alpha val="15000"/>
              </a:srgbClr>
            </a:outerShdw>
          </a:effectLst>
        </p:spPr>
        <p:txBody>
          <a:bodyPr/>
          <a:lstStyle/>
          <a:p>
            <a:endParaRPr lang="es-CO"/>
          </a:p>
        </p:txBody>
      </p:sp>
      <p:sp>
        <p:nvSpPr>
          <p:cNvPr id="28" name="Shape 23"/>
          <p:cNvSpPr/>
          <p:nvPr/>
        </p:nvSpPr>
        <p:spPr>
          <a:xfrm>
            <a:off x="6821424" y="1078992"/>
            <a:ext cx="2057400" cy="54864"/>
          </a:xfrm>
          <a:prstGeom prst="rect">
            <a:avLst/>
          </a:prstGeom>
          <a:solidFill>
            <a:srgbClr val="00E676"/>
          </a:solidFill>
          <a:ln/>
        </p:spPr>
        <p:txBody>
          <a:bodyPr/>
          <a:lstStyle/>
          <a:p>
            <a:endParaRPr lang="es-CO"/>
          </a:p>
        </p:txBody>
      </p:sp>
      <p:pic>
        <p:nvPicPr>
          <p:cNvPr id="29" name="Image 3" descr="preencoded.png"/>
          <p:cNvPicPr>
            <a:picLocks noChangeAspect="1"/>
          </p:cNvPicPr>
          <p:nvPr/>
        </p:nvPicPr>
        <p:blipFill>
          <a:blip r:embed="rId6"/>
          <a:stretch>
            <a:fillRect/>
          </a:stretch>
        </p:blipFill>
        <p:spPr>
          <a:xfrm>
            <a:off x="6931152" y="1197864"/>
            <a:ext cx="384048" cy="384048"/>
          </a:xfrm>
          <a:prstGeom prst="rect">
            <a:avLst/>
          </a:prstGeom>
        </p:spPr>
      </p:pic>
      <p:sp>
        <p:nvSpPr>
          <p:cNvPr id="30" name="Text 24"/>
          <p:cNvSpPr/>
          <p:nvPr/>
        </p:nvSpPr>
        <p:spPr>
          <a:xfrm>
            <a:off x="7351776" y="1188720"/>
            <a:ext cx="1417320" cy="256032"/>
          </a:xfrm>
          <a:prstGeom prst="rect">
            <a:avLst/>
          </a:prstGeom>
          <a:noFill/>
          <a:ln/>
        </p:spPr>
        <p:txBody>
          <a:bodyPr wrap="square" rtlCol="0" anchor="ctr"/>
          <a:lstStyle/>
          <a:p>
            <a:pPr marL="0" indent="0" algn="l">
              <a:buNone/>
            </a:pPr>
            <a:r>
              <a:rPr lang="en-US" sz="1400" b="1" dirty="0">
                <a:solidFill>
                  <a:srgbClr val="00E676"/>
                </a:solidFill>
                <a:latin typeface="Arial Black" pitchFamily="34" charset="0"/>
                <a:ea typeface="Arial Black" pitchFamily="34" charset="-122"/>
                <a:cs typeface="Arial Black" pitchFamily="34" charset="-120"/>
              </a:rPr>
              <a:t>Docker</a:t>
            </a:r>
            <a:endParaRPr lang="en-US" sz="1400" dirty="0"/>
          </a:p>
        </p:txBody>
      </p:sp>
      <p:sp>
        <p:nvSpPr>
          <p:cNvPr id="31" name="Text 25"/>
          <p:cNvSpPr/>
          <p:nvPr/>
        </p:nvSpPr>
        <p:spPr>
          <a:xfrm>
            <a:off x="7351776" y="1444752"/>
            <a:ext cx="1417320" cy="201168"/>
          </a:xfrm>
          <a:prstGeom prst="rect">
            <a:avLst/>
          </a:prstGeom>
          <a:noFill/>
          <a:ln/>
        </p:spPr>
        <p:txBody>
          <a:bodyPr wrap="square" rtlCol="0" anchor="ctr"/>
          <a:lstStyle/>
          <a:p>
            <a:pPr marL="0" indent="0" algn="l">
              <a:buNone/>
            </a:pPr>
            <a:r>
              <a:rPr lang="en-US" sz="800" dirty="0">
                <a:solidFill>
                  <a:srgbClr val="CADCFC"/>
                </a:solidFill>
              </a:rPr>
              <a:t>DevOps</a:t>
            </a:r>
            <a:endParaRPr lang="en-US" sz="800" dirty="0"/>
          </a:p>
        </p:txBody>
      </p:sp>
      <p:sp>
        <p:nvSpPr>
          <p:cNvPr id="32" name="Shape 26"/>
          <p:cNvSpPr/>
          <p:nvPr/>
        </p:nvSpPr>
        <p:spPr>
          <a:xfrm>
            <a:off x="6931152" y="1682496"/>
            <a:ext cx="1828800" cy="18288"/>
          </a:xfrm>
          <a:prstGeom prst="rect">
            <a:avLst/>
          </a:prstGeom>
          <a:solidFill>
            <a:srgbClr val="263580"/>
          </a:solidFill>
          <a:ln/>
        </p:spPr>
        <p:txBody>
          <a:bodyPr/>
          <a:lstStyle/>
          <a:p>
            <a:endParaRPr lang="es-CO"/>
          </a:p>
        </p:txBody>
      </p:sp>
      <p:sp>
        <p:nvSpPr>
          <p:cNvPr id="33" name="Text 27"/>
          <p:cNvSpPr/>
          <p:nvPr/>
        </p:nvSpPr>
        <p:spPr>
          <a:xfrm>
            <a:off x="6931152" y="1737360"/>
            <a:ext cx="1828800" cy="804672"/>
          </a:xfrm>
          <a:prstGeom prst="rect">
            <a:avLst/>
          </a:prstGeom>
          <a:noFill/>
          <a:ln/>
        </p:spPr>
        <p:txBody>
          <a:bodyPr wrap="square" rtlCol="0" anchor="t"/>
          <a:lstStyle/>
          <a:p>
            <a:pPr marL="0" indent="0" algn="l">
              <a:buNone/>
            </a:pPr>
            <a:r>
              <a:rPr lang="en-US" sz="900" dirty="0">
                <a:solidFill>
                  <a:srgbClr val="CADCFC"/>
                </a:solidFill>
              </a:rPr>
              <a:t>Ambiente consistente,</a:t>
            </a:r>
            <a:endParaRPr lang="en-US" sz="900" dirty="0"/>
          </a:p>
          <a:p>
            <a:pPr marL="0" indent="0" algn="l">
              <a:buNone/>
            </a:pPr>
            <a:r>
              <a:rPr lang="en-US" sz="900" dirty="0">
                <a:solidFill>
                  <a:srgbClr val="CADCFC"/>
                </a:solidFill>
              </a:rPr>
              <a:t>despliegue en 1 comando,</a:t>
            </a:r>
            <a:endParaRPr lang="en-US" sz="900" dirty="0"/>
          </a:p>
          <a:p>
            <a:pPr marL="0" indent="0" algn="l">
              <a:buNone/>
            </a:pPr>
            <a:r>
              <a:rPr lang="en-US" sz="900" dirty="0">
                <a:solidFill>
                  <a:srgbClr val="CADCFC"/>
                </a:solidFill>
              </a:rPr>
              <a:t>escalable a k8s</a:t>
            </a:r>
            <a:endParaRPr lang="en-US" sz="900" dirty="0"/>
          </a:p>
        </p:txBody>
      </p:sp>
      <p:sp>
        <p:nvSpPr>
          <p:cNvPr id="34" name="Shape 28"/>
          <p:cNvSpPr/>
          <p:nvPr/>
        </p:nvSpPr>
        <p:spPr>
          <a:xfrm>
            <a:off x="320040" y="2743200"/>
            <a:ext cx="5120640" cy="2148840"/>
          </a:xfrm>
          <a:prstGeom prst="rect">
            <a:avLst/>
          </a:prstGeom>
          <a:solidFill>
            <a:srgbClr val="1E2761"/>
          </a:solidFill>
          <a:ln/>
          <a:effectLst>
            <a:outerShdw blurRad="76200" dist="25400" dir="8100000" algn="bl" rotWithShape="0">
              <a:srgbClr val="000000">
                <a:alpha val="12000"/>
              </a:srgbClr>
            </a:outerShdw>
          </a:effectLst>
        </p:spPr>
        <p:txBody>
          <a:bodyPr/>
          <a:lstStyle/>
          <a:p>
            <a:endParaRPr lang="es-CO"/>
          </a:p>
        </p:txBody>
      </p:sp>
      <p:sp>
        <p:nvSpPr>
          <p:cNvPr id="35" name="Text 29"/>
          <p:cNvSpPr/>
          <p:nvPr/>
        </p:nvSpPr>
        <p:spPr>
          <a:xfrm>
            <a:off x="457200" y="2816352"/>
            <a:ext cx="4846320" cy="274320"/>
          </a:xfrm>
          <a:prstGeom prst="rect">
            <a:avLst/>
          </a:prstGeom>
          <a:noFill/>
          <a:ln/>
        </p:spPr>
        <p:txBody>
          <a:bodyPr wrap="square" rtlCol="0" anchor="ctr"/>
          <a:lstStyle/>
          <a:p>
            <a:pPr marL="0" indent="0">
              <a:buNone/>
            </a:pPr>
            <a:r>
              <a:rPr lang="en-US" sz="900" b="1" kern="0" spc="200" dirty="0">
                <a:solidFill>
                  <a:srgbClr val="4FC3F7"/>
                </a:solidFill>
              </a:rPr>
              <a:t>METODOLOGÍA &amp; VIABILIDAD</a:t>
            </a:r>
            <a:endParaRPr lang="en-US" sz="900" dirty="0"/>
          </a:p>
        </p:txBody>
      </p:sp>
      <p:pic>
        <p:nvPicPr>
          <p:cNvPr id="36" name="Image 4" descr="preencoded.png"/>
          <p:cNvPicPr>
            <a:picLocks noChangeAspect="1"/>
          </p:cNvPicPr>
          <p:nvPr/>
        </p:nvPicPr>
        <p:blipFill>
          <a:blip r:embed="rId7"/>
          <a:stretch>
            <a:fillRect/>
          </a:stretch>
        </p:blipFill>
        <p:spPr>
          <a:xfrm>
            <a:off x="475488" y="3163824"/>
            <a:ext cx="201168" cy="201168"/>
          </a:xfrm>
          <a:prstGeom prst="rect">
            <a:avLst/>
          </a:prstGeom>
        </p:spPr>
      </p:pic>
      <p:sp>
        <p:nvSpPr>
          <p:cNvPr id="37" name="Text 30"/>
          <p:cNvSpPr/>
          <p:nvPr/>
        </p:nvSpPr>
        <p:spPr>
          <a:xfrm>
            <a:off x="749808" y="3145536"/>
            <a:ext cx="4526280" cy="347472"/>
          </a:xfrm>
          <a:prstGeom prst="rect">
            <a:avLst/>
          </a:prstGeom>
          <a:noFill/>
          <a:ln/>
        </p:spPr>
        <p:txBody>
          <a:bodyPr wrap="square" rtlCol="0" anchor="t"/>
          <a:lstStyle/>
          <a:p>
            <a:pPr marL="0" indent="0" algn="l">
              <a:buNone/>
            </a:pPr>
            <a:r>
              <a:rPr lang="en-US" sz="950" dirty="0">
                <a:solidFill>
                  <a:srgbClr val="CADCFC"/>
                </a:solidFill>
              </a:rPr>
              <a:t>Backlog priorizado con MoSCoW — Scope congelado post-PRD: Must Have primero</a:t>
            </a:r>
            <a:endParaRPr lang="en-US" sz="950" dirty="0"/>
          </a:p>
        </p:txBody>
      </p:sp>
      <p:pic>
        <p:nvPicPr>
          <p:cNvPr id="38" name="Image 5" descr="preencoded.png"/>
          <p:cNvPicPr>
            <a:picLocks noChangeAspect="1"/>
          </p:cNvPicPr>
          <p:nvPr/>
        </p:nvPicPr>
        <p:blipFill>
          <a:blip r:embed="rId8"/>
          <a:stretch>
            <a:fillRect/>
          </a:stretch>
        </p:blipFill>
        <p:spPr>
          <a:xfrm>
            <a:off x="475488" y="3566160"/>
            <a:ext cx="201168" cy="201168"/>
          </a:xfrm>
          <a:prstGeom prst="rect">
            <a:avLst/>
          </a:prstGeom>
        </p:spPr>
      </p:pic>
      <p:sp>
        <p:nvSpPr>
          <p:cNvPr id="39" name="Text 31"/>
          <p:cNvSpPr/>
          <p:nvPr/>
        </p:nvSpPr>
        <p:spPr>
          <a:xfrm>
            <a:off x="749808" y="3547872"/>
            <a:ext cx="4526280" cy="347472"/>
          </a:xfrm>
          <a:prstGeom prst="rect">
            <a:avLst/>
          </a:prstGeom>
          <a:noFill/>
          <a:ln/>
        </p:spPr>
        <p:txBody>
          <a:bodyPr wrap="square" rtlCol="0" anchor="t"/>
          <a:lstStyle/>
          <a:p>
            <a:pPr marL="0" indent="0" algn="l">
              <a:buNone/>
            </a:pPr>
            <a:r>
              <a:rPr lang="en-US" sz="950" dirty="0">
                <a:solidFill>
                  <a:srgbClr val="CADCFC"/>
                </a:solidFill>
              </a:rPr>
              <a:t>SCRUM iterativo: sprints de 2 semanas con entregables verificables</a:t>
            </a:r>
            <a:endParaRPr lang="en-US" sz="950" dirty="0"/>
          </a:p>
        </p:txBody>
      </p:sp>
      <p:pic>
        <p:nvPicPr>
          <p:cNvPr id="40" name="Image 6" descr="preencoded.png"/>
          <p:cNvPicPr>
            <a:picLocks noChangeAspect="1"/>
          </p:cNvPicPr>
          <p:nvPr/>
        </p:nvPicPr>
        <p:blipFill>
          <a:blip r:embed="rId9"/>
          <a:stretch>
            <a:fillRect/>
          </a:stretch>
        </p:blipFill>
        <p:spPr>
          <a:xfrm>
            <a:off x="475488" y="3968496"/>
            <a:ext cx="201168" cy="201168"/>
          </a:xfrm>
          <a:prstGeom prst="rect">
            <a:avLst/>
          </a:prstGeom>
        </p:spPr>
      </p:pic>
      <p:sp>
        <p:nvSpPr>
          <p:cNvPr id="41" name="Text 32"/>
          <p:cNvSpPr/>
          <p:nvPr/>
        </p:nvSpPr>
        <p:spPr>
          <a:xfrm>
            <a:off x="749808" y="3950208"/>
            <a:ext cx="4526280" cy="347472"/>
          </a:xfrm>
          <a:prstGeom prst="rect">
            <a:avLst/>
          </a:prstGeom>
          <a:noFill/>
          <a:ln/>
        </p:spPr>
        <p:txBody>
          <a:bodyPr wrap="square" rtlCol="0" anchor="t"/>
          <a:lstStyle/>
          <a:p>
            <a:pPr marL="0" indent="0" algn="l">
              <a:buNone/>
            </a:pPr>
            <a:r>
              <a:rPr lang="en-US" sz="950" dirty="0">
                <a:solidFill>
                  <a:srgbClr val="CADCFC"/>
                </a:solidFill>
              </a:rPr>
              <a:t>Arquitectura Hexagonal → testing unitario sin BD, fácil mantenibilidad futura</a:t>
            </a:r>
            <a:endParaRPr lang="en-US" sz="950" dirty="0"/>
          </a:p>
        </p:txBody>
      </p:sp>
      <p:pic>
        <p:nvPicPr>
          <p:cNvPr id="42" name="Image 7" descr="preencoded.png"/>
          <p:cNvPicPr>
            <a:picLocks noChangeAspect="1"/>
          </p:cNvPicPr>
          <p:nvPr/>
        </p:nvPicPr>
        <p:blipFill>
          <a:blip r:embed="rId10"/>
          <a:stretch>
            <a:fillRect/>
          </a:stretch>
        </p:blipFill>
        <p:spPr>
          <a:xfrm>
            <a:off x="475488" y="4370832"/>
            <a:ext cx="201168" cy="201168"/>
          </a:xfrm>
          <a:prstGeom prst="rect">
            <a:avLst/>
          </a:prstGeom>
        </p:spPr>
      </p:pic>
      <p:sp>
        <p:nvSpPr>
          <p:cNvPr id="43" name="Text 33"/>
          <p:cNvSpPr/>
          <p:nvPr/>
        </p:nvSpPr>
        <p:spPr>
          <a:xfrm>
            <a:off x="749808" y="4352544"/>
            <a:ext cx="4526280" cy="347472"/>
          </a:xfrm>
          <a:prstGeom prst="rect">
            <a:avLst/>
          </a:prstGeom>
          <a:noFill/>
          <a:ln/>
        </p:spPr>
        <p:txBody>
          <a:bodyPr wrap="square" rtlCol="0" anchor="t"/>
          <a:lstStyle/>
          <a:p>
            <a:pPr marL="0" indent="0" algn="l">
              <a:buNone/>
            </a:pPr>
            <a:r>
              <a:rPr lang="en-US" sz="950" dirty="0">
                <a:solidFill>
                  <a:srgbClr val="CADCFC"/>
                </a:solidFill>
              </a:rPr>
              <a:t>Docker Compose garantiza paridad Dev/Prod — sin 'funciona en mi máquina'</a:t>
            </a:r>
            <a:endParaRPr lang="en-US" sz="950" dirty="0"/>
          </a:p>
        </p:txBody>
      </p:sp>
      <p:sp>
        <p:nvSpPr>
          <p:cNvPr id="44" name="Shape 34"/>
          <p:cNvSpPr/>
          <p:nvPr/>
        </p:nvSpPr>
        <p:spPr>
          <a:xfrm>
            <a:off x="5577840" y="2743200"/>
            <a:ext cx="3246120" cy="2148840"/>
          </a:xfrm>
          <a:prstGeom prst="rect">
            <a:avLst/>
          </a:prstGeom>
          <a:solidFill>
            <a:srgbClr val="1A2456"/>
          </a:solidFill>
          <a:ln/>
          <a:effectLst>
            <a:outerShdw blurRad="76200" dist="25400" dir="8100000" algn="bl" rotWithShape="0">
              <a:srgbClr val="000000">
                <a:alpha val="12000"/>
              </a:srgbClr>
            </a:outerShdw>
          </a:effectLst>
        </p:spPr>
        <p:txBody>
          <a:bodyPr/>
          <a:lstStyle/>
          <a:p>
            <a:endParaRPr lang="es-CO"/>
          </a:p>
        </p:txBody>
      </p:sp>
      <p:sp>
        <p:nvSpPr>
          <p:cNvPr id="45" name="Text 35"/>
          <p:cNvSpPr/>
          <p:nvPr/>
        </p:nvSpPr>
        <p:spPr>
          <a:xfrm>
            <a:off x="5687568" y="2816352"/>
            <a:ext cx="3017520" cy="274320"/>
          </a:xfrm>
          <a:prstGeom prst="rect">
            <a:avLst/>
          </a:prstGeom>
          <a:noFill/>
          <a:ln/>
        </p:spPr>
        <p:txBody>
          <a:bodyPr wrap="square" rtlCol="0" anchor="ctr"/>
          <a:lstStyle/>
          <a:p>
            <a:pPr marL="0" indent="0">
              <a:buNone/>
            </a:pPr>
            <a:r>
              <a:rPr lang="en-US" sz="900" b="1" kern="0" spc="200" dirty="0">
                <a:solidFill>
                  <a:srgbClr val="4FC3F7"/>
                </a:solidFill>
              </a:rPr>
              <a:t>ESCALABILIDAD FUTURA</a:t>
            </a:r>
            <a:endParaRPr lang="en-US" sz="900" dirty="0"/>
          </a:p>
        </p:txBody>
      </p:sp>
      <p:sp>
        <p:nvSpPr>
          <p:cNvPr id="46" name="Shape 36"/>
          <p:cNvSpPr/>
          <p:nvPr/>
        </p:nvSpPr>
        <p:spPr>
          <a:xfrm>
            <a:off x="5687568" y="3163824"/>
            <a:ext cx="475488" cy="237744"/>
          </a:xfrm>
          <a:prstGeom prst="rect">
            <a:avLst/>
          </a:prstGeom>
          <a:solidFill>
            <a:srgbClr val="00E676"/>
          </a:solidFill>
          <a:ln/>
        </p:spPr>
        <p:txBody>
          <a:bodyPr/>
          <a:lstStyle/>
          <a:p>
            <a:endParaRPr lang="es-CO"/>
          </a:p>
        </p:txBody>
      </p:sp>
      <p:sp>
        <p:nvSpPr>
          <p:cNvPr id="47" name="Text 37"/>
          <p:cNvSpPr/>
          <p:nvPr/>
        </p:nvSpPr>
        <p:spPr>
          <a:xfrm>
            <a:off x="5687568" y="3163824"/>
            <a:ext cx="475488" cy="237744"/>
          </a:xfrm>
          <a:prstGeom prst="rect">
            <a:avLst/>
          </a:prstGeom>
          <a:noFill/>
          <a:ln/>
        </p:spPr>
        <p:txBody>
          <a:bodyPr wrap="square" lIns="0" tIns="0" rIns="0" bIns="0" rtlCol="0" anchor="ctr"/>
          <a:lstStyle/>
          <a:p>
            <a:pPr marL="0" indent="0" algn="ctr">
              <a:buNone/>
            </a:pPr>
            <a:r>
              <a:rPr lang="en-US" sz="850" b="1" dirty="0">
                <a:solidFill>
                  <a:srgbClr val="141B4D"/>
                </a:solidFill>
              </a:rPr>
              <a:t>MVP</a:t>
            </a:r>
            <a:endParaRPr lang="en-US" sz="850" dirty="0"/>
          </a:p>
        </p:txBody>
      </p:sp>
      <p:sp>
        <p:nvSpPr>
          <p:cNvPr id="48" name="Text 38"/>
          <p:cNvSpPr/>
          <p:nvPr/>
        </p:nvSpPr>
        <p:spPr>
          <a:xfrm>
            <a:off x="6217920" y="3163824"/>
            <a:ext cx="2468880" cy="320040"/>
          </a:xfrm>
          <a:prstGeom prst="rect">
            <a:avLst/>
          </a:prstGeom>
          <a:noFill/>
          <a:ln/>
        </p:spPr>
        <p:txBody>
          <a:bodyPr wrap="square" rtlCol="0" anchor="t"/>
          <a:lstStyle/>
          <a:p>
            <a:pPr marL="0" indent="0" algn="l">
              <a:buNone/>
            </a:pPr>
            <a:r>
              <a:rPr lang="en-US" sz="900" dirty="0">
                <a:solidFill>
                  <a:srgbClr val="CADCFC"/>
                </a:solidFill>
              </a:rPr>
              <a:t>Centro único · 8-12 semanas</a:t>
            </a:r>
            <a:endParaRPr lang="en-US" sz="900" dirty="0"/>
          </a:p>
        </p:txBody>
      </p:sp>
      <p:sp>
        <p:nvSpPr>
          <p:cNvPr id="49" name="Shape 39"/>
          <p:cNvSpPr/>
          <p:nvPr/>
        </p:nvSpPr>
        <p:spPr>
          <a:xfrm>
            <a:off x="5687568" y="3566160"/>
            <a:ext cx="475488" cy="237744"/>
          </a:xfrm>
          <a:prstGeom prst="rect">
            <a:avLst/>
          </a:prstGeom>
          <a:solidFill>
            <a:srgbClr val="4FC3F7"/>
          </a:solidFill>
          <a:ln/>
        </p:spPr>
        <p:txBody>
          <a:bodyPr/>
          <a:lstStyle/>
          <a:p>
            <a:endParaRPr lang="es-CO"/>
          </a:p>
        </p:txBody>
      </p:sp>
      <p:sp>
        <p:nvSpPr>
          <p:cNvPr id="50" name="Text 40"/>
          <p:cNvSpPr/>
          <p:nvPr/>
        </p:nvSpPr>
        <p:spPr>
          <a:xfrm>
            <a:off x="5687568" y="3566160"/>
            <a:ext cx="475488" cy="237744"/>
          </a:xfrm>
          <a:prstGeom prst="rect">
            <a:avLst/>
          </a:prstGeom>
          <a:noFill/>
          <a:ln/>
        </p:spPr>
        <p:txBody>
          <a:bodyPr wrap="square" lIns="0" tIns="0" rIns="0" bIns="0" rtlCol="0" anchor="ctr"/>
          <a:lstStyle/>
          <a:p>
            <a:pPr marL="0" indent="0" algn="ctr">
              <a:buNone/>
            </a:pPr>
            <a:r>
              <a:rPr lang="en-US" sz="850" b="1" dirty="0">
                <a:solidFill>
                  <a:srgbClr val="141B4D"/>
                </a:solidFill>
              </a:rPr>
              <a:t>v2</a:t>
            </a:r>
            <a:endParaRPr lang="en-US" sz="850" dirty="0"/>
          </a:p>
        </p:txBody>
      </p:sp>
      <p:sp>
        <p:nvSpPr>
          <p:cNvPr id="51" name="Text 41"/>
          <p:cNvSpPr/>
          <p:nvPr/>
        </p:nvSpPr>
        <p:spPr>
          <a:xfrm>
            <a:off x="6217920" y="3566160"/>
            <a:ext cx="2468880" cy="320040"/>
          </a:xfrm>
          <a:prstGeom prst="rect">
            <a:avLst/>
          </a:prstGeom>
          <a:noFill/>
          <a:ln/>
        </p:spPr>
        <p:txBody>
          <a:bodyPr wrap="square" rtlCol="0" anchor="t"/>
          <a:lstStyle/>
          <a:p>
            <a:pPr marL="0" indent="0" algn="l">
              <a:buNone/>
            </a:pPr>
            <a:r>
              <a:rPr lang="en-US" sz="900" dirty="0">
                <a:solidFill>
                  <a:srgbClr val="CADCFC"/>
                </a:solidFill>
              </a:rPr>
              <a:t>Multi-tenancy → múltiples sedes</a:t>
            </a:r>
            <a:endParaRPr lang="en-US" sz="900" dirty="0"/>
          </a:p>
        </p:txBody>
      </p:sp>
      <p:sp>
        <p:nvSpPr>
          <p:cNvPr id="52" name="Shape 42"/>
          <p:cNvSpPr/>
          <p:nvPr/>
        </p:nvSpPr>
        <p:spPr>
          <a:xfrm>
            <a:off x="5687568" y="3968496"/>
            <a:ext cx="475488" cy="237744"/>
          </a:xfrm>
          <a:prstGeom prst="rect">
            <a:avLst/>
          </a:prstGeom>
          <a:solidFill>
            <a:srgbClr val="CADCFC"/>
          </a:solidFill>
          <a:ln/>
        </p:spPr>
        <p:txBody>
          <a:bodyPr/>
          <a:lstStyle/>
          <a:p>
            <a:endParaRPr lang="es-CO"/>
          </a:p>
        </p:txBody>
      </p:sp>
      <p:sp>
        <p:nvSpPr>
          <p:cNvPr id="53" name="Text 43"/>
          <p:cNvSpPr/>
          <p:nvPr/>
        </p:nvSpPr>
        <p:spPr>
          <a:xfrm>
            <a:off x="5687568" y="3968496"/>
            <a:ext cx="475488" cy="237744"/>
          </a:xfrm>
          <a:prstGeom prst="rect">
            <a:avLst/>
          </a:prstGeom>
          <a:noFill/>
          <a:ln/>
        </p:spPr>
        <p:txBody>
          <a:bodyPr wrap="square" lIns="0" tIns="0" rIns="0" bIns="0" rtlCol="0" anchor="ctr"/>
          <a:lstStyle/>
          <a:p>
            <a:pPr marL="0" indent="0" algn="ctr">
              <a:buNone/>
            </a:pPr>
            <a:r>
              <a:rPr lang="en-US" sz="850" b="1" dirty="0">
                <a:solidFill>
                  <a:srgbClr val="141B4D"/>
                </a:solidFill>
              </a:rPr>
              <a:t>v3</a:t>
            </a:r>
            <a:endParaRPr lang="en-US" sz="850" dirty="0"/>
          </a:p>
        </p:txBody>
      </p:sp>
      <p:sp>
        <p:nvSpPr>
          <p:cNvPr id="54" name="Text 44"/>
          <p:cNvSpPr/>
          <p:nvPr/>
        </p:nvSpPr>
        <p:spPr>
          <a:xfrm>
            <a:off x="6217920" y="3968496"/>
            <a:ext cx="2468880" cy="320040"/>
          </a:xfrm>
          <a:prstGeom prst="rect">
            <a:avLst/>
          </a:prstGeom>
          <a:noFill/>
          <a:ln/>
        </p:spPr>
        <p:txBody>
          <a:bodyPr wrap="square" rtlCol="0" anchor="t"/>
          <a:lstStyle/>
          <a:p>
            <a:pPr marL="0" indent="0" algn="l">
              <a:buNone/>
            </a:pPr>
            <a:r>
              <a:rPr lang="en-US" sz="900" dirty="0">
                <a:solidFill>
                  <a:srgbClr val="CADCFC"/>
                </a:solidFill>
              </a:rPr>
              <a:t>Integración Sofía Plus · API SENA</a:t>
            </a:r>
            <a:endParaRPr lang="en-US" sz="900" dirty="0"/>
          </a:p>
        </p:txBody>
      </p:sp>
      <p:sp>
        <p:nvSpPr>
          <p:cNvPr id="55" name="Shape 45"/>
          <p:cNvSpPr/>
          <p:nvPr/>
        </p:nvSpPr>
        <p:spPr>
          <a:xfrm>
            <a:off x="5687568" y="4370832"/>
            <a:ext cx="475488" cy="237744"/>
          </a:xfrm>
          <a:prstGeom prst="rect">
            <a:avLst/>
          </a:prstGeom>
          <a:solidFill>
            <a:srgbClr val="FFB300"/>
          </a:solidFill>
          <a:ln/>
        </p:spPr>
        <p:txBody>
          <a:bodyPr/>
          <a:lstStyle/>
          <a:p>
            <a:endParaRPr lang="es-CO"/>
          </a:p>
        </p:txBody>
      </p:sp>
      <p:sp>
        <p:nvSpPr>
          <p:cNvPr id="56" name="Text 46"/>
          <p:cNvSpPr/>
          <p:nvPr/>
        </p:nvSpPr>
        <p:spPr>
          <a:xfrm>
            <a:off x="5687568" y="4370832"/>
            <a:ext cx="475488" cy="237744"/>
          </a:xfrm>
          <a:prstGeom prst="rect">
            <a:avLst/>
          </a:prstGeom>
          <a:noFill/>
          <a:ln/>
        </p:spPr>
        <p:txBody>
          <a:bodyPr wrap="square" lIns="0" tIns="0" rIns="0" bIns="0" rtlCol="0" anchor="ctr"/>
          <a:lstStyle/>
          <a:p>
            <a:pPr marL="0" indent="0" algn="ctr">
              <a:buNone/>
            </a:pPr>
            <a:r>
              <a:rPr lang="en-US" sz="850" b="1" dirty="0">
                <a:solidFill>
                  <a:srgbClr val="141B4D"/>
                </a:solidFill>
              </a:rPr>
              <a:t>v4</a:t>
            </a:r>
            <a:endParaRPr lang="en-US" sz="850" dirty="0"/>
          </a:p>
        </p:txBody>
      </p:sp>
      <p:sp>
        <p:nvSpPr>
          <p:cNvPr id="57" name="Text 47"/>
          <p:cNvSpPr/>
          <p:nvPr/>
        </p:nvSpPr>
        <p:spPr>
          <a:xfrm>
            <a:off x="6217920" y="4370832"/>
            <a:ext cx="2468880" cy="320040"/>
          </a:xfrm>
          <a:prstGeom prst="rect">
            <a:avLst/>
          </a:prstGeom>
          <a:noFill/>
          <a:ln/>
        </p:spPr>
        <p:txBody>
          <a:bodyPr wrap="square" rtlCol="0" anchor="t"/>
          <a:lstStyle/>
          <a:p>
            <a:pPr marL="0" indent="0" algn="l">
              <a:buNone/>
            </a:pPr>
            <a:r>
              <a:rPr lang="en-US" sz="900" dirty="0">
                <a:solidFill>
                  <a:srgbClr val="CADCFC"/>
                </a:solidFill>
              </a:rPr>
              <a:t>Analítica avanzada · BI académico</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p:spPr>
        <p:txBody>
          <a:bodyPr/>
          <a:lstStyle/>
          <a:p>
            <a:endParaRPr lang="es-CO"/>
          </a:p>
        </p:txBody>
      </p:sp>
      <p:sp>
        <p:nvSpPr>
          <p:cNvPr id="3" name="Shape 1"/>
          <p:cNvSpPr/>
          <p:nvPr/>
        </p:nvSpPr>
        <p:spPr>
          <a:xfrm>
            <a:off x="0" y="0"/>
            <a:ext cx="109728" cy="960120"/>
          </a:xfrm>
          <a:prstGeom prst="rect">
            <a:avLst/>
          </a:prstGeom>
          <a:solidFill>
            <a:srgbClr val="FFB300"/>
          </a:solidFill>
          <a:ln/>
        </p:spPr>
        <p:txBody>
          <a:bodyPr/>
          <a:lstStyle/>
          <a:p>
            <a:endParaRPr lang="es-CO"/>
          </a:p>
        </p:txBody>
      </p:sp>
      <p:sp>
        <p:nvSpPr>
          <p:cNvPr id="4" name="Text 2"/>
          <p:cNvSpPr/>
          <p:nvPr/>
        </p:nvSpPr>
        <p:spPr>
          <a:xfrm>
            <a:off x="164592" y="64008"/>
            <a:ext cx="777240" cy="804672"/>
          </a:xfrm>
          <a:prstGeom prst="rect">
            <a:avLst/>
          </a:prstGeom>
          <a:noFill/>
          <a:ln/>
        </p:spPr>
        <p:txBody>
          <a:bodyPr wrap="square" rtlCol="0" anchor="ctr"/>
          <a:lstStyle/>
          <a:p>
            <a:pPr marL="0" indent="0" algn="ctr">
              <a:buNone/>
            </a:pPr>
            <a:r>
              <a:rPr lang="en-US" sz="3000" b="1" dirty="0">
                <a:solidFill>
                  <a:srgbClr val="FFB300"/>
                </a:solidFill>
                <a:latin typeface="Arial Black" pitchFamily="34" charset="0"/>
                <a:ea typeface="Arial Black" pitchFamily="34" charset="-122"/>
                <a:cs typeface="Arial Black" pitchFamily="34" charset="-120"/>
              </a:rPr>
              <a:t>05</a:t>
            </a:r>
            <a:endParaRPr lang="en-US" sz="3000" dirty="0"/>
          </a:p>
        </p:txBody>
      </p:sp>
      <p:sp>
        <p:nvSpPr>
          <p:cNvPr id="5" name="Text 3"/>
          <p:cNvSpPr/>
          <p:nvPr/>
        </p:nvSpPr>
        <p:spPr>
          <a:xfrm>
            <a:off x="822960" y="182880"/>
            <a:ext cx="8046720" cy="502920"/>
          </a:xfrm>
          <a:prstGeom prst="rect">
            <a:avLst/>
          </a:prstGeom>
          <a:noFill/>
          <a:ln/>
        </p:spPr>
        <p:txBody>
          <a:bodyPr wrap="square" rtlCol="0" anchor="ctr"/>
          <a:lstStyle/>
          <a:p>
            <a:pPr marL="0" indent="0" algn="l">
              <a:buNone/>
            </a:pPr>
            <a:r>
              <a:rPr lang="en-US" sz="2000" b="1" dirty="0">
                <a:solidFill>
                  <a:srgbClr val="FFFFFF"/>
                </a:solidFill>
                <a:latin typeface="Arial Black" pitchFamily="34" charset="0"/>
                <a:ea typeface="Arial Black" pitchFamily="34" charset="-122"/>
                <a:cs typeface="Arial Black" pitchFamily="34" charset="-120"/>
              </a:rPr>
              <a:t>COSTOS, BENEFICIOS Y ROI  ·  Costo de Oportunidad</a:t>
            </a:r>
            <a:endParaRPr lang="en-US" sz="2000" dirty="0"/>
          </a:p>
        </p:txBody>
      </p:sp>
      <p:sp>
        <p:nvSpPr>
          <p:cNvPr id="6" name="Shape 4"/>
          <p:cNvSpPr/>
          <p:nvPr/>
        </p:nvSpPr>
        <p:spPr>
          <a:xfrm>
            <a:off x="320040" y="1051560"/>
            <a:ext cx="4114800" cy="2011680"/>
          </a:xfrm>
          <a:prstGeom prst="rect">
            <a:avLst/>
          </a:prstGeom>
          <a:solidFill>
            <a:srgbClr val="1A2456"/>
          </a:solidFill>
          <a:ln/>
        </p:spPr>
        <p:txBody>
          <a:bodyPr/>
          <a:lstStyle/>
          <a:p>
            <a:endParaRPr lang="es-CO"/>
          </a:p>
        </p:txBody>
      </p:sp>
      <p:sp>
        <p:nvSpPr>
          <p:cNvPr id="7" name="Text 5"/>
          <p:cNvSpPr/>
          <p:nvPr/>
        </p:nvSpPr>
        <p:spPr>
          <a:xfrm>
            <a:off x="457200" y="1115568"/>
            <a:ext cx="3840480" cy="274320"/>
          </a:xfrm>
          <a:prstGeom prst="rect">
            <a:avLst/>
          </a:prstGeom>
          <a:noFill/>
          <a:ln/>
        </p:spPr>
        <p:txBody>
          <a:bodyPr wrap="square" rtlCol="0" anchor="ctr"/>
          <a:lstStyle/>
          <a:p>
            <a:pPr marL="0" indent="0" algn="ctr">
              <a:buNone/>
            </a:pPr>
            <a:r>
              <a:rPr lang="en-US" sz="950" b="1" kern="0" spc="300" dirty="0">
                <a:solidFill>
                  <a:srgbClr val="FFB300"/>
                </a:solidFill>
              </a:rPr>
              <a:t>INVERSIÓN</a:t>
            </a:r>
            <a:endParaRPr lang="en-US" sz="950" dirty="0"/>
          </a:p>
        </p:txBody>
      </p:sp>
      <p:pic>
        <p:nvPicPr>
          <p:cNvPr id="8" name="Image 0" descr="preencoded.png"/>
          <p:cNvPicPr>
            <a:picLocks noChangeAspect="1"/>
          </p:cNvPicPr>
          <p:nvPr/>
        </p:nvPicPr>
        <p:blipFill>
          <a:blip r:embed="rId3"/>
          <a:stretch>
            <a:fillRect/>
          </a:stretch>
        </p:blipFill>
        <p:spPr>
          <a:xfrm>
            <a:off x="457200" y="1481328"/>
            <a:ext cx="219456" cy="219456"/>
          </a:xfrm>
          <a:prstGeom prst="rect">
            <a:avLst/>
          </a:prstGeom>
        </p:spPr>
      </p:pic>
      <p:sp>
        <p:nvSpPr>
          <p:cNvPr id="9" name="Text 6"/>
          <p:cNvSpPr/>
          <p:nvPr/>
        </p:nvSpPr>
        <p:spPr>
          <a:xfrm>
            <a:off x="749808" y="1463040"/>
            <a:ext cx="3566160" cy="411480"/>
          </a:xfrm>
          <a:prstGeom prst="rect">
            <a:avLst/>
          </a:prstGeom>
          <a:noFill/>
          <a:ln/>
        </p:spPr>
        <p:txBody>
          <a:bodyPr wrap="square" rtlCol="0" anchor="t"/>
          <a:lstStyle/>
          <a:p>
            <a:pPr marL="0" indent="0" algn="l">
              <a:buNone/>
            </a:pPr>
            <a:r>
              <a:rPr lang="en-US" sz="950" dirty="0">
                <a:solidFill>
                  <a:srgbClr val="CADCFC"/>
                </a:solidFill>
              </a:rPr>
              <a:t>8–12 semanas de desarrollo (equipo 3-5 devs)</a:t>
            </a:r>
            <a:endParaRPr lang="en-US" sz="950" dirty="0"/>
          </a:p>
        </p:txBody>
      </p:sp>
      <p:pic>
        <p:nvPicPr>
          <p:cNvPr id="10" name="Image 1" descr="preencoded.png"/>
          <p:cNvPicPr>
            <a:picLocks noChangeAspect="1"/>
          </p:cNvPicPr>
          <p:nvPr/>
        </p:nvPicPr>
        <p:blipFill>
          <a:blip r:embed="rId4"/>
          <a:stretch>
            <a:fillRect/>
          </a:stretch>
        </p:blipFill>
        <p:spPr>
          <a:xfrm>
            <a:off x="457200" y="1965960"/>
            <a:ext cx="219456" cy="219456"/>
          </a:xfrm>
          <a:prstGeom prst="rect">
            <a:avLst/>
          </a:prstGeom>
        </p:spPr>
      </p:pic>
      <p:sp>
        <p:nvSpPr>
          <p:cNvPr id="11" name="Text 7"/>
          <p:cNvSpPr/>
          <p:nvPr/>
        </p:nvSpPr>
        <p:spPr>
          <a:xfrm>
            <a:off x="749808" y="1947672"/>
            <a:ext cx="3566160" cy="411480"/>
          </a:xfrm>
          <a:prstGeom prst="rect">
            <a:avLst/>
          </a:prstGeom>
          <a:noFill/>
          <a:ln/>
        </p:spPr>
        <p:txBody>
          <a:bodyPr wrap="square" rtlCol="0" anchor="t"/>
          <a:lstStyle/>
          <a:p>
            <a:pPr marL="0" indent="0" algn="l">
              <a:buNone/>
            </a:pPr>
            <a:r>
              <a:rPr lang="en-US" sz="950" dirty="0">
                <a:solidFill>
                  <a:srgbClr val="CADCFC"/>
                </a:solidFill>
              </a:rPr>
              <a:t>Stack open-source: Go, React, PostgreSQL, Docker</a:t>
            </a:r>
            <a:endParaRPr lang="en-US" sz="950" dirty="0"/>
          </a:p>
        </p:txBody>
      </p:sp>
      <p:pic>
        <p:nvPicPr>
          <p:cNvPr id="12" name="Image 2" descr="preencoded.png"/>
          <p:cNvPicPr>
            <a:picLocks noChangeAspect="1"/>
          </p:cNvPicPr>
          <p:nvPr/>
        </p:nvPicPr>
        <p:blipFill>
          <a:blip r:embed="rId5"/>
          <a:stretch>
            <a:fillRect/>
          </a:stretch>
        </p:blipFill>
        <p:spPr>
          <a:xfrm>
            <a:off x="457200" y="2450592"/>
            <a:ext cx="219456" cy="219456"/>
          </a:xfrm>
          <a:prstGeom prst="rect">
            <a:avLst/>
          </a:prstGeom>
        </p:spPr>
      </p:pic>
      <p:sp>
        <p:nvSpPr>
          <p:cNvPr id="13" name="Text 8"/>
          <p:cNvSpPr/>
          <p:nvPr/>
        </p:nvSpPr>
        <p:spPr>
          <a:xfrm>
            <a:off x="749808" y="2432304"/>
            <a:ext cx="3566160" cy="411480"/>
          </a:xfrm>
          <a:prstGeom prst="rect">
            <a:avLst/>
          </a:prstGeom>
          <a:noFill/>
          <a:ln/>
        </p:spPr>
        <p:txBody>
          <a:bodyPr wrap="square" rtlCol="0" anchor="t"/>
          <a:lstStyle/>
          <a:p>
            <a:pPr marL="0" indent="0" algn="l">
              <a:buNone/>
            </a:pPr>
            <a:r>
              <a:rPr lang="en-US" sz="950" dirty="0">
                <a:solidFill>
                  <a:srgbClr val="CADCFC"/>
                </a:solidFill>
              </a:rPr>
              <a:t>Capacitación inicial: curva mínima — 30 min para crear horario completo</a:t>
            </a:r>
            <a:endParaRPr lang="en-US" sz="950" dirty="0"/>
          </a:p>
        </p:txBody>
      </p:sp>
      <p:pic>
        <p:nvPicPr>
          <p:cNvPr id="14" name="Image 3" descr="preencoded.png"/>
          <p:cNvPicPr>
            <a:picLocks noChangeAspect="1"/>
          </p:cNvPicPr>
          <p:nvPr/>
        </p:nvPicPr>
        <p:blipFill>
          <a:blip r:embed="rId6"/>
          <a:stretch>
            <a:fillRect/>
          </a:stretch>
        </p:blipFill>
        <p:spPr>
          <a:xfrm>
            <a:off x="4315968" y="1901952"/>
            <a:ext cx="512064" cy="512064"/>
          </a:xfrm>
          <a:prstGeom prst="rect">
            <a:avLst/>
          </a:prstGeom>
        </p:spPr>
      </p:pic>
      <p:sp>
        <p:nvSpPr>
          <p:cNvPr id="15" name="Shape 9"/>
          <p:cNvSpPr/>
          <p:nvPr/>
        </p:nvSpPr>
        <p:spPr>
          <a:xfrm>
            <a:off x="4709160" y="1051560"/>
            <a:ext cx="4114800" cy="2011680"/>
          </a:xfrm>
          <a:prstGeom prst="rect">
            <a:avLst/>
          </a:prstGeom>
          <a:solidFill>
            <a:srgbClr val="1A2456"/>
          </a:solidFill>
          <a:ln/>
        </p:spPr>
        <p:txBody>
          <a:bodyPr/>
          <a:lstStyle/>
          <a:p>
            <a:endParaRPr lang="es-CO"/>
          </a:p>
        </p:txBody>
      </p:sp>
      <p:sp>
        <p:nvSpPr>
          <p:cNvPr id="16" name="Text 10"/>
          <p:cNvSpPr/>
          <p:nvPr/>
        </p:nvSpPr>
        <p:spPr>
          <a:xfrm>
            <a:off x="4846320" y="1115568"/>
            <a:ext cx="3840480" cy="274320"/>
          </a:xfrm>
          <a:prstGeom prst="rect">
            <a:avLst/>
          </a:prstGeom>
          <a:noFill/>
          <a:ln/>
        </p:spPr>
        <p:txBody>
          <a:bodyPr wrap="square" rtlCol="0" anchor="ctr"/>
          <a:lstStyle/>
          <a:p>
            <a:pPr marL="0" indent="0" algn="ctr">
              <a:buNone/>
            </a:pPr>
            <a:r>
              <a:rPr lang="en-US" sz="950" b="1" kern="0" spc="300" dirty="0">
                <a:solidFill>
                  <a:srgbClr val="00E676"/>
                </a:solidFill>
              </a:rPr>
              <a:t>RETORNO (ROI)</a:t>
            </a:r>
            <a:endParaRPr lang="en-US" sz="950" dirty="0"/>
          </a:p>
        </p:txBody>
      </p:sp>
      <p:pic>
        <p:nvPicPr>
          <p:cNvPr id="17" name="Image 4" descr="preencoded.png"/>
          <p:cNvPicPr>
            <a:picLocks noChangeAspect="1"/>
          </p:cNvPicPr>
          <p:nvPr/>
        </p:nvPicPr>
        <p:blipFill>
          <a:blip r:embed="rId7"/>
          <a:stretch>
            <a:fillRect/>
          </a:stretch>
        </p:blipFill>
        <p:spPr>
          <a:xfrm>
            <a:off x="4828032" y="1481328"/>
            <a:ext cx="219456" cy="219456"/>
          </a:xfrm>
          <a:prstGeom prst="rect">
            <a:avLst/>
          </a:prstGeom>
        </p:spPr>
      </p:pic>
      <p:sp>
        <p:nvSpPr>
          <p:cNvPr id="18" name="Text 11"/>
          <p:cNvSpPr/>
          <p:nvPr/>
        </p:nvSpPr>
        <p:spPr>
          <a:xfrm>
            <a:off x="5120640" y="1463040"/>
            <a:ext cx="3566160" cy="411480"/>
          </a:xfrm>
          <a:prstGeom prst="rect">
            <a:avLst/>
          </a:prstGeom>
          <a:noFill/>
          <a:ln/>
        </p:spPr>
        <p:txBody>
          <a:bodyPr wrap="square" rtlCol="0" anchor="t"/>
          <a:lstStyle/>
          <a:p>
            <a:pPr marL="0" indent="0" algn="l">
              <a:buNone/>
            </a:pPr>
            <a:r>
              <a:rPr lang="en-US" sz="950" dirty="0">
                <a:solidFill>
                  <a:srgbClr val="CADCFC"/>
                </a:solidFill>
              </a:rPr>
              <a:t>60% reducción en carga administrativa — de 5h a &lt;2h/semana</a:t>
            </a:r>
            <a:endParaRPr lang="en-US" sz="950" dirty="0"/>
          </a:p>
        </p:txBody>
      </p:sp>
      <p:pic>
        <p:nvPicPr>
          <p:cNvPr id="19" name="Image 5" descr="preencoded.png"/>
          <p:cNvPicPr>
            <a:picLocks noChangeAspect="1"/>
          </p:cNvPicPr>
          <p:nvPr/>
        </p:nvPicPr>
        <p:blipFill>
          <a:blip r:embed="rId8"/>
          <a:stretch>
            <a:fillRect/>
          </a:stretch>
        </p:blipFill>
        <p:spPr>
          <a:xfrm>
            <a:off x="4828032" y="1965960"/>
            <a:ext cx="219456" cy="219456"/>
          </a:xfrm>
          <a:prstGeom prst="rect">
            <a:avLst/>
          </a:prstGeom>
        </p:spPr>
      </p:pic>
      <p:sp>
        <p:nvSpPr>
          <p:cNvPr id="20" name="Text 12"/>
          <p:cNvSpPr/>
          <p:nvPr/>
        </p:nvSpPr>
        <p:spPr>
          <a:xfrm>
            <a:off x="5120640" y="1947672"/>
            <a:ext cx="3566160" cy="411480"/>
          </a:xfrm>
          <a:prstGeom prst="rect">
            <a:avLst/>
          </a:prstGeom>
          <a:noFill/>
          <a:ln/>
        </p:spPr>
        <p:txBody>
          <a:bodyPr wrap="square" rtlCol="0" anchor="t"/>
          <a:lstStyle/>
          <a:p>
            <a:pPr marL="0" indent="0" algn="l">
              <a:buNone/>
            </a:pPr>
            <a:r>
              <a:rPr lang="en-US" sz="950" dirty="0">
                <a:solidFill>
                  <a:srgbClr val="CADCFC"/>
                </a:solidFill>
              </a:rPr>
              <a:t>Eliminación de conflictos reactivos: validación automática 24/7</a:t>
            </a:r>
            <a:endParaRPr lang="en-US" sz="950" dirty="0"/>
          </a:p>
        </p:txBody>
      </p:sp>
      <p:pic>
        <p:nvPicPr>
          <p:cNvPr id="21" name="Image 6" descr="preencoded.png"/>
          <p:cNvPicPr>
            <a:picLocks noChangeAspect="1"/>
          </p:cNvPicPr>
          <p:nvPr/>
        </p:nvPicPr>
        <p:blipFill>
          <a:blip r:embed="rId9"/>
          <a:stretch>
            <a:fillRect/>
          </a:stretch>
        </p:blipFill>
        <p:spPr>
          <a:xfrm>
            <a:off x="4828032" y="2450592"/>
            <a:ext cx="219456" cy="219456"/>
          </a:xfrm>
          <a:prstGeom prst="rect">
            <a:avLst/>
          </a:prstGeom>
        </p:spPr>
      </p:pic>
      <p:sp>
        <p:nvSpPr>
          <p:cNvPr id="22" name="Text 13"/>
          <p:cNvSpPr/>
          <p:nvPr/>
        </p:nvSpPr>
        <p:spPr>
          <a:xfrm>
            <a:off x="5120640" y="2432304"/>
            <a:ext cx="3566160" cy="411480"/>
          </a:xfrm>
          <a:prstGeom prst="rect">
            <a:avLst/>
          </a:prstGeom>
          <a:noFill/>
          <a:ln/>
        </p:spPr>
        <p:txBody>
          <a:bodyPr wrap="square" rtlCol="0" anchor="t"/>
          <a:lstStyle/>
          <a:p>
            <a:pPr marL="0" indent="0" algn="l">
              <a:buNone/>
            </a:pPr>
            <a:r>
              <a:rPr lang="en-US" sz="950" dirty="0">
                <a:solidFill>
                  <a:srgbClr val="CADCFC"/>
                </a:solidFill>
              </a:rPr>
              <a:t>Trazabilidad completa: historial auditable con timestamp y autor</a:t>
            </a:r>
            <a:endParaRPr lang="en-US" sz="950" dirty="0"/>
          </a:p>
        </p:txBody>
      </p:sp>
      <p:sp>
        <p:nvSpPr>
          <p:cNvPr id="23" name="Shape 14"/>
          <p:cNvSpPr/>
          <p:nvPr/>
        </p:nvSpPr>
        <p:spPr>
          <a:xfrm>
            <a:off x="320040" y="3182112"/>
            <a:ext cx="8503920" cy="621792"/>
          </a:xfrm>
          <a:prstGeom prst="rect">
            <a:avLst/>
          </a:prstGeom>
          <a:solidFill>
            <a:srgbClr val="263580"/>
          </a:solidFill>
          <a:ln/>
        </p:spPr>
        <p:txBody>
          <a:bodyPr/>
          <a:lstStyle/>
          <a:p>
            <a:endParaRPr lang="es-CO"/>
          </a:p>
        </p:txBody>
      </p:sp>
      <p:sp>
        <p:nvSpPr>
          <p:cNvPr id="24" name="Text 15"/>
          <p:cNvSpPr/>
          <p:nvPr/>
        </p:nvSpPr>
        <p:spPr>
          <a:xfrm>
            <a:off x="502920" y="3200400"/>
            <a:ext cx="1828800" cy="320040"/>
          </a:xfrm>
          <a:prstGeom prst="rect">
            <a:avLst/>
          </a:prstGeom>
          <a:noFill/>
          <a:ln/>
        </p:spPr>
        <p:txBody>
          <a:bodyPr wrap="square" rtlCol="0" anchor="ctr"/>
          <a:lstStyle/>
          <a:p>
            <a:pPr marL="0" indent="0" algn="l">
              <a:buNone/>
            </a:pPr>
            <a:r>
              <a:rPr lang="en-US" sz="2000" b="1" dirty="0">
                <a:solidFill>
                  <a:srgbClr val="4FC3F7"/>
                </a:solidFill>
                <a:latin typeface="Arial Black" pitchFamily="34" charset="0"/>
                <a:ea typeface="Arial Black" pitchFamily="34" charset="-122"/>
                <a:cs typeface="Arial Black" pitchFamily="34" charset="-120"/>
              </a:rPr>
              <a:t>60%</a:t>
            </a:r>
            <a:endParaRPr lang="en-US" sz="2000" dirty="0"/>
          </a:p>
        </p:txBody>
      </p:sp>
      <p:sp>
        <p:nvSpPr>
          <p:cNvPr id="25" name="Text 16"/>
          <p:cNvSpPr/>
          <p:nvPr/>
        </p:nvSpPr>
        <p:spPr>
          <a:xfrm>
            <a:off x="502920" y="3511296"/>
            <a:ext cx="1828800" cy="201168"/>
          </a:xfrm>
          <a:prstGeom prst="rect">
            <a:avLst/>
          </a:prstGeom>
          <a:noFill/>
          <a:ln/>
        </p:spPr>
        <p:txBody>
          <a:bodyPr wrap="square" rtlCol="0" anchor="ctr"/>
          <a:lstStyle/>
          <a:p>
            <a:pPr marL="0" indent="0" algn="l">
              <a:buNone/>
            </a:pPr>
            <a:r>
              <a:rPr lang="en-US" sz="800" dirty="0">
                <a:solidFill>
                  <a:srgbClr val="CADCFC"/>
                </a:solidFill>
              </a:rPr>
              <a:t>menos carga admin</a:t>
            </a:r>
            <a:endParaRPr lang="en-US" sz="800" dirty="0"/>
          </a:p>
        </p:txBody>
      </p:sp>
      <p:sp>
        <p:nvSpPr>
          <p:cNvPr id="26" name="Shape 17"/>
          <p:cNvSpPr/>
          <p:nvPr/>
        </p:nvSpPr>
        <p:spPr>
          <a:xfrm>
            <a:off x="2377440" y="3255264"/>
            <a:ext cx="36576" cy="457200"/>
          </a:xfrm>
          <a:prstGeom prst="rect">
            <a:avLst/>
          </a:prstGeom>
          <a:solidFill>
            <a:srgbClr val="8B9DC3"/>
          </a:solidFill>
          <a:ln/>
        </p:spPr>
        <p:txBody>
          <a:bodyPr/>
          <a:lstStyle/>
          <a:p>
            <a:endParaRPr lang="es-CO"/>
          </a:p>
        </p:txBody>
      </p:sp>
      <p:sp>
        <p:nvSpPr>
          <p:cNvPr id="27" name="Text 18"/>
          <p:cNvSpPr/>
          <p:nvPr/>
        </p:nvSpPr>
        <p:spPr>
          <a:xfrm>
            <a:off x="2606040" y="3200400"/>
            <a:ext cx="1828800" cy="320040"/>
          </a:xfrm>
          <a:prstGeom prst="rect">
            <a:avLst/>
          </a:prstGeom>
          <a:noFill/>
          <a:ln/>
        </p:spPr>
        <p:txBody>
          <a:bodyPr wrap="square" rtlCol="0" anchor="ctr"/>
          <a:lstStyle/>
          <a:p>
            <a:pPr marL="0" indent="0" algn="l">
              <a:buNone/>
            </a:pPr>
            <a:r>
              <a:rPr lang="en-US" sz="2000" b="1" dirty="0">
                <a:solidFill>
                  <a:srgbClr val="4FC3F7"/>
                </a:solidFill>
                <a:latin typeface="Arial Black" pitchFamily="34" charset="0"/>
                <a:ea typeface="Arial Black" pitchFamily="34" charset="-122"/>
                <a:cs typeface="Arial Black" pitchFamily="34" charset="-120"/>
              </a:rPr>
              <a:t>&lt;500ms</a:t>
            </a:r>
            <a:endParaRPr lang="en-US" sz="2000" dirty="0"/>
          </a:p>
        </p:txBody>
      </p:sp>
      <p:sp>
        <p:nvSpPr>
          <p:cNvPr id="28" name="Text 19"/>
          <p:cNvSpPr/>
          <p:nvPr/>
        </p:nvSpPr>
        <p:spPr>
          <a:xfrm>
            <a:off x="2606040" y="3511296"/>
            <a:ext cx="1828800" cy="201168"/>
          </a:xfrm>
          <a:prstGeom prst="rect">
            <a:avLst/>
          </a:prstGeom>
          <a:noFill/>
          <a:ln/>
        </p:spPr>
        <p:txBody>
          <a:bodyPr wrap="square" rtlCol="0" anchor="ctr"/>
          <a:lstStyle/>
          <a:p>
            <a:pPr marL="0" indent="0" algn="l">
              <a:buNone/>
            </a:pPr>
            <a:r>
              <a:rPr lang="en-US" sz="800" dirty="0">
                <a:solidFill>
                  <a:srgbClr val="CADCFC"/>
                </a:solidFill>
              </a:rPr>
              <a:t>respuesta del sistema</a:t>
            </a:r>
            <a:endParaRPr lang="en-US" sz="800" dirty="0"/>
          </a:p>
        </p:txBody>
      </p:sp>
      <p:sp>
        <p:nvSpPr>
          <p:cNvPr id="29" name="Shape 20"/>
          <p:cNvSpPr/>
          <p:nvPr/>
        </p:nvSpPr>
        <p:spPr>
          <a:xfrm>
            <a:off x="4480560" y="3255264"/>
            <a:ext cx="36576" cy="457200"/>
          </a:xfrm>
          <a:prstGeom prst="rect">
            <a:avLst/>
          </a:prstGeom>
          <a:solidFill>
            <a:srgbClr val="8B9DC3"/>
          </a:solidFill>
          <a:ln/>
        </p:spPr>
        <p:txBody>
          <a:bodyPr/>
          <a:lstStyle/>
          <a:p>
            <a:endParaRPr lang="es-CO"/>
          </a:p>
        </p:txBody>
      </p:sp>
      <p:sp>
        <p:nvSpPr>
          <p:cNvPr id="30" name="Text 21"/>
          <p:cNvSpPr/>
          <p:nvPr/>
        </p:nvSpPr>
        <p:spPr>
          <a:xfrm>
            <a:off x="4709160" y="3200400"/>
            <a:ext cx="1828800" cy="320040"/>
          </a:xfrm>
          <a:prstGeom prst="rect">
            <a:avLst/>
          </a:prstGeom>
          <a:noFill/>
          <a:ln/>
        </p:spPr>
        <p:txBody>
          <a:bodyPr wrap="square" rtlCol="0" anchor="ctr"/>
          <a:lstStyle/>
          <a:p>
            <a:pPr marL="0" indent="0" algn="l">
              <a:buNone/>
            </a:pPr>
            <a:r>
              <a:rPr lang="en-US" sz="2000" b="1" dirty="0">
                <a:solidFill>
                  <a:srgbClr val="4FC3F7"/>
                </a:solidFill>
                <a:latin typeface="Arial Black" pitchFamily="34" charset="0"/>
                <a:ea typeface="Arial Black" pitchFamily="34" charset="-122"/>
                <a:cs typeface="Arial Black" pitchFamily="34" charset="-120"/>
              </a:rPr>
              <a:t>8-12 wk</a:t>
            </a:r>
            <a:endParaRPr lang="en-US" sz="2000" dirty="0"/>
          </a:p>
        </p:txBody>
      </p:sp>
      <p:sp>
        <p:nvSpPr>
          <p:cNvPr id="31" name="Text 22"/>
          <p:cNvSpPr/>
          <p:nvPr/>
        </p:nvSpPr>
        <p:spPr>
          <a:xfrm>
            <a:off x="4709160" y="3511296"/>
            <a:ext cx="1828800" cy="201168"/>
          </a:xfrm>
          <a:prstGeom prst="rect">
            <a:avLst/>
          </a:prstGeom>
          <a:noFill/>
          <a:ln/>
        </p:spPr>
        <p:txBody>
          <a:bodyPr wrap="square" rtlCol="0" anchor="ctr"/>
          <a:lstStyle/>
          <a:p>
            <a:pPr marL="0" indent="0" algn="l">
              <a:buNone/>
            </a:pPr>
            <a:r>
              <a:rPr lang="en-US" sz="800" dirty="0">
                <a:solidFill>
                  <a:srgbClr val="CADCFC"/>
                </a:solidFill>
              </a:rPr>
              <a:t>tiempo de desarrollo</a:t>
            </a:r>
            <a:endParaRPr lang="en-US" sz="800" dirty="0"/>
          </a:p>
        </p:txBody>
      </p:sp>
      <p:sp>
        <p:nvSpPr>
          <p:cNvPr id="32" name="Shape 23"/>
          <p:cNvSpPr/>
          <p:nvPr/>
        </p:nvSpPr>
        <p:spPr>
          <a:xfrm>
            <a:off x="6583680" y="3255264"/>
            <a:ext cx="36576" cy="457200"/>
          </a:xfrm>
          <a:prstGeom prst="rect">
            <a:avLst/>
          </a:prstGeom>
          <a:solidFill>
            <a:srgbClr val="8B9DC3"/>
          </a:solidFill>
          <a:ln/>
        </p:spPr>
        <p:txBody>
          <a:bodyPr/>
          <a:lstStyle/>
          <a:p>
            <a:endParaRPr lang="es-CO"/>
          </a:p>
        </p:txBody>
      </p:sp>
      <p:sp>
        <p:nvSpPr>
          <p:cNvPr id="33" name="Text 24"/>
          <p:cNvSpPr/>
          <p:nvPr/>
        </p:nvSpPr>
        <p:spPr>
          <a:xfrm>
            <a:off x="6812280" y="3200400"/>
            <a:ext cx="1828800" cy="320040"/>
          </a:xfrm>
          <a:prstGeom prst="rect">
            <a:avLst/>
          </a:prstGeom>
          <a:noFill/>
          <a:ln/>
        </p:spPr>
        <p:txBody>
          <a:bodyPr wrap="square" rtlCol="0" anchor="ctr"/>
          <a:lstStyle/>
          <a:p>
            <a:pPr marL="0" indent="0" algn="l">
              <a:buNone/>
            </a:pPr>
            <a:r>
              <a:rPr lang="en-US" sz="2000" b="1" dirty="0">
                <a:solidFill>
                  <a:srgbClr val="4FC3F7"/>
                </a:solidFill>
                <a:latin typeface="Arial Black" pitchFamily="34" charset="0"/>
                <a:ea typeface="Arial Black" pitchFamily="34" charset="-122"/>
                <a:cs typeface="Arial Black" pitchFamily="34" charset="-120"/>
              </a:rPr>
              <a:t>∞</a:t>
            </a:r>
            <a:endParaRPr lang="en-US" sz="2000" dirty="0"/>
          </a:p>
        </p:txBody>
      </p:sp>
      <p:sp>
        <p:nvSpPr>
          <p:cNvPr id="34" name="Text 25"/>
          <p:cNvSpPr/>
          <p:nvPr/>
        </p:nvSpPr>
        <p:spPr>
          <a:xfrm>
            <a:off x="6812280" y="3511296"/>
            <a:ext cx="1828800" cy="201168"/>
          </a:xfrm>
          <a:prstGeom prst="rect">
            <a:avLst/>
          </a:prstGeom>
          <a:noFill/>
          <a:ln/>
        </p:spPr>
        <p:txBody>
          <a:bodyPr wrap="square" rtlCol="0" anchor="ctr"/>
          <a:lstStyle/>
          <a:p>
            <a:pPr marL="0" indent="0" algn="l">
              <a:buNone/>
            </a:pPr>
            <a:r>
              <a:rPr lang="en-US" sz="800" dirty="0">
                <a:solidFill>
                  <a:srgbClr val="CADCFC"/>
                </a:solidFill>
              </a:rPr>
              <a:t>trazabilidad</a:t>
            </a:r>
            <a:endParaRPr lang="en-US" sz="800" dirty="0"/>
          </a:p>
        </p:txBody>
      </p:sp>
      <p:sp>
        <p:nvSpPr>
          <p:cNvPr id="35" name="Shape 26"/>
          <p:cNvSpPr/>
          <p:nvPr/>
        </p:nvSpPr>
        <p:spPr>
          <a:xfrm>
            <a:off x="320040" y="3913632"/>
            <a:ext cx="8503920" cy="960120"/>
          </a:xfrm>
          <a:prstGeom prst="rect">
            <a:avLst/>
          </a:prstGeom>
          <a:solidFill>
            <a:srgbClr val="1E2761"/>
          </a:solidFill>
          <a:ln/>
        </p:spPr>
        <p:txBody>
          <a:bodyPr/>
          <a:lstStyle/>
          <a:p>
            <a:endParaRPr lang="es-CO"/>
          </a:p>
        </p:txBody>
      </p:sp>
      <p:sp>
        <p:nvSpPr>
          <p:cNvPr id="36" name="Shape 27"/>
          <p:cNvSpPr/>
          <p:nvPr/>
        </p:nvSpPr>
        <p:spPr>
          <a:xfrm>
            <a:off x="320040" y="3913632"/>
            <a:ext cx="73152" cy="960120"/>
          </a:xfrm>
          <a:prstGeom prst="rect">
            <a:avLst/>
          </a:prstGeom>
          <a:solidFill>
            <a:srgbClr val="00E676"/>
          </a:solidFill>
          <a:ln/>
        </p:spPr>
        <p:txBody>
          <a:bodyPr/>
          <a:lstStyle/>
          <a:p>
            <a:endParaRPr lang="es-CO"/>
          </a:p>
        </p:txBody>
      </p:sp>
      <p:pic>
        <p:nvPicPr>
          <p:cNvPr id="37" name="Image 7" descr="preencoded.png"/>
          <p:cNvPicPr>
            <a:picLocks noChangeAspect="1"/>
          </p:cNvPicPr>
          <p:nvPr/>
        </p:nvPicPr>
        <p:blipFill>
          <a:blip r:embed="rId10"/>
          <a:stretch>
            <a:fillRect/>
          </a:stretch>
        </p:blipFill>
        <p:spPr>
          <a:xfrm>
            <a:off x="530352" y="4087368"/>
            <a:ext cx="320040" cy="320040"/>
          </a:xfrm>
          <a:prstGeom prst="rect">
            <a:avLst/>
          </a:prstGeom>
        </p:spPr>
      </p:pic>
      <p:sp>
        <p:nvSpPr>
          <p:cNvPr id="38" name="Text 28"/>
          <p:cNvSpPr/>
          <p:nvPr/>
        </p:nvSpPr>
        <p:spPr>
          <a:xfrm>
            <a:off x="932688" y="3931920"/>
            <a:ext cx="7680960" cy="256032"/>
          </a:xfrm>
          <a:prstGeom prst="rect">
            <a:avLst/>
          </a:prstGeom>
          <a:noFill/>
          <a:ln/>
        </p:spPr>
        <p:txBody>
          <a:bodyPr wrap="square" rtlCol="0" anchor="ctr"/>
          <a:lstStyle/>
          <a:p>
            <a:pPr marL="0" indent="0" algn="l">
              <a:buNone/>
            </a:pPr>
            <a:r>
              <a:rPr lang="en-US" sz="900" b="1" kern="0" spc="300" dirty="0">
                <a:solidFill>
                  <a:srgbClr val="00E676"/>
                </a:solidFill>
              </a:rPr>
              <a:t>VISIÓN DE FUTURO</a:t>
            </a:r>
            <a:endParaRPr lang="en-US" sz="900" dirty="0"/>
          </a:p>
        </p:txBody>
      </p:sp>
      <p:sp>
        <p:nvSpPr>
          <p:cNvPr id="39" name="Text 29"/>
          <p:cNvSpPr/>
          <p:nvPr/>
        </p:nvSpPr>
        <p:spPr>
          <a:xfrm>
            <a:off x="932688" y="4187952"/>
            <a:ext cx="7680960" cy="566928"/>
          </a:xfrm>
          <a:prstGeom prst="rect">
            <a:avLst/>
          </a:prstGeom>
          <a:noFill/>
          <a:ln/>
        </p:spPr>
        <p:txBody>
          <a:bodyPr wrap="square" rtlCol="0" anchor="t"/>
          <a:lstStyle/>
          <a:p>
            <a:pPr marL="0" indent="0" algn="l">
              <a:buNone/>
            </a:pPr>
            <a:r>
              <a:rPr lang="en-US" sz="950" dirty="0">
                <a:solidFill>
                  <a:srgbClr val="CADCFC"/>
                </a:solidFill>
              </a:rPr>
              <a:t>Integración nativa con Sofía Plus (plataforma oficial SENA) · Multi-tenancy para escalar a múltiples centros · Notificaciones automáticas · Analítica académica avanzada — todo sin reescribir el núcleo gracias a la arquitectura Hexagonal.</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817</Words>
  <Application>Microsoft Office PowerPoint</Application>
  <PresentationFormat>Presentación en pantalla (16:9)</PresentationFormat>
  <Paragraphs>106</Paragraphs>
  <Slides>5</Slides>
  <Notes>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5</vt:i4>
      </vt:variant>
    </vt:vector>
  </HeadingPairs>
  <TitlesOfParts>
    <vt:vector size="9" baseType="lpstr">
      <vt:lpstr>Arial</vt:lpstr>
      <vt:lpstr>Arial Black</vt:lpstr>
      <vt:lpstr>Calibri</vt:lpstr>
      <vt:lpstr>Office Theme</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PRJ-SENA-SCHEDULE | Sistema de Gestión de Horarios Académicos</dc:title>
  <dc:subject>PptxGenJS Presentation</dc:subject>
  <dc:creator>PRJ-SENA-SCHEDULE Team</dc:creator>
  <cp:lastModifiedBy>100_952721708</cp:lastModifiedBy>
  <cp:revision>3</cp:revision>
  <dcterms:created xsi:type="dcterms:W3CDTF">2026-05-23T15:36:52Z</dcterms:created>
  <dcterms:modified xsi:type="dcterms:W3CDTF">2026-05-23T15:50:44Z</dcterms:modified>
</cp:coreProperties>
</file>