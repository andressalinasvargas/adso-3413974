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12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6126480"/>
            <a:ext cx="12192000" cy="731520"/>
          </a:xfrm>
          <a:prstGeom prst="rect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 rot="5400000">
            <a:off x="91440" y="1097280"/>
            <a:ext cx="1280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>
                    <a:alpha val="60000"/>
                  </a:srgbClr>
                </a:solidFill>
              </a:rPr>
              <a:t>ANÁLISIS · MOCKUP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F6D5"/>
                </a:solidFill>
              </a:rPr>
              <a:t>SENA — REGIONAL HUILA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Sistema de Gestión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 Horarios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73736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</a:rPr>
              <a:t>Análisis de prototipos navegables · 7 hallazgos documentados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4069080"/>
            <a:ext cx="5486400" cy="36576"/>
          </a:xfrm>
          <a:prstGeom prst="rect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737360" y="4251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8C56"/>
                </a:solidFill>
              </a:rPr>
              <a:t>53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737360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Pantallas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4251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8C56"/>
                </a:solidFill>
              </a:rPr>
              <a:t>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931920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Módulos MFE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251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8C56"/>
                </a:solidFill>
              </a:rPr>
              <a:t>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Roles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251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8C56"/>
                </a:solidFill>
              </a:rPr>
              <a:t>7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Hallazgos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Ficha 3413974 · Análisis y Desarrollo de Software · SENA Palermo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es este sistema?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F6D5"/>
                </a:solidFill>
              </a:rPr>
              <a:t>Un mockup navegable de gestión de horarios para centros SENA · Arquitectura micro-frontends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8C56"/>
                </a:solidFill>
              </a:rPr>
              <a:t>ENTIDADES DEL SISTEMA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423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75488" y="1600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📋  Fichas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Grupos de formación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554480"/>
            <a:ext cx="2423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081528" y="1600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👩‍🏫  Instructores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81528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Personal que dicta clases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2423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75488" y="2423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🎓  Aprendices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7249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Estudiantes de la ficha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2377440"/>
            <a:ext cx="2423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081528" y="2423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🏛  Ambientes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81528" y="27249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Aulas, laboratorios, talleres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423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75488" y="3246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📅  Horarios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547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Programación semanal de sesiones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3200400"/>
            <a:ext cx="2423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081528" y="3246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🔗  Asignaciones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81528" y="3547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Instructor ↔ sesión ↔ ambiente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11430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8C56"/>
                </a:solidFill>
              </a:rPr>
              <a:t>ROLES DEL SISTEMA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536192"/>
            <a:ext cx="5760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5943600" y="1536192"/>
            <a:ext cx="137160" cy="749808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72200" y="159105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Coordinador Académico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1920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Crea y publica horarios, resuelve conflictos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432304"/>
            <a:ext cx="5760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5943600" y="2432304"/>
            <a:ext cx="137160" cy="74980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172200" y="24871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Instructor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28163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Ve su horario y registra seguimiento de ficha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3328416"/>
            <a:ext cx="5760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943600" y="3328416"/>
            <a:ext cx="137160" cy="749808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172200" y="3383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Aprendiz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37124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Consulta su horario y notificaciones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4224528"/>
            <a:ext cx="5760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5943600" y="4224528"/>
            <a:ext cx="137160" cy="749808"/>
          </a:xfrm>
          <a:prstGeom prst="rect">
            <a:avLst/>
          </a:prstGeom>
          <a:solidFill>
            <a:srgbClr val="74421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172200" y="427939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Director de Centro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72200" y="46085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Visualiza KPIs y administra usuarios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5120640"/>
            <a:ext cx="57607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5943600" y="5120640"/>
            <a:ext cx="137160" cy="749808"/>
          </a:xfrm>
          <a:prstGeom prst="rect">
            <a:avLst/>
          </a:prstGeom>
          <a:solidFill>
            <a:srgbClr val="553C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6172200" y="51755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Administrador de Soporte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72200" y="55046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Gestiona documentos, auditoría y parámetros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</a:rPr>
              <a:t>53 pantallas  ·  7 módulos MFE  ·  datos ficticios  ·  sin backend real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 que funciona bien 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F6D5"/>
                </a:solidFill>
              </a:rPr>
              <a:t>Elementos sólidos que sirven de base para el sistema definitivo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30352" y="1371600"/>
            <a:ext cx="594360" cy="594360"/>
          </a:xfrm>
          <a:prstGeom prst="ellipse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30352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4A"/>
                </a:solidFill>
              </a:rPr>
              <a:t>Sistema de estados centralizado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Un solo componente status() cubre 25 estados distintos de forma uniforme en toda la app.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11887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325112" y="1371600"/>
            <a:ext cx="594360" cy="594360"/>
          </a:xfrm>
          <a:prstGeom prst="ellipse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25112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5196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4A"/>
                </a:solidFill>
              </a:rPr>
              <a:t>Flujo de publicación con bloqueo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2560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Botón "Publicar" desactivado mientras haya conflictos sin resolver. Buen patrón de workflow.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1887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8119872" y="1371600"/>
            <a:ext cx="594360" cy="594360"/>
          </a:xfrm>
          <a:prstGeom prst="ellipse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119872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4A"/>
                </a:solidFill>
              </a:rPr>
              <a:t>RBAC bien estructurado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560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Matriz rol↔permiso con scopes GLOBAL / TRAINING_CENTER / OWN_* y x-required-feature por pantalla.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30352" y="3931920"/>
            <a:ext cx="594360" cy="594360"/>
          </a:xfrm>
          <a:prstGeom prst="ellipse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4A"/>
                </a:solidFill>
              </a:rPr>
              <a:t>Auditoría bien concebida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120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Registra actor, servicio origen, entidad y payload JSON de cambios. Diseño correcto para sistemas distribuidos.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7490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325112" y="3931920"/>
            <a:ext cx="594360" cy="594360"/>
          </a:xfrm>
          <a:prstGeom prst="ellipse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325112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5196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4A"/>
                </a:solidFill>
              </a:rPr>
              <a:t>Shell responsivo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51960" y="5120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Barra lateral colapsa a drawer móvil con backdrop. Botones topbar ocultos/visibles según viewport.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7490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C6F6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8119872" y="3931920"/>
            <a:ext cx="594360" cy="594360"/>
          </a:xfrm>
          <a:prstGeom prst="ellipse">
            <a:avLst/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8119872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672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4A"/>
                </a:solidFill>
              </a:rPr>
              <a:t>Tokens de diseño centralizados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5120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Colores, tipografía y espaciado como variables CSS. Sin valores mágicos dispersos en el código.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H2 — Calendario semanal y formularios inusables en móvil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126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D7D7"/>
                </a:solidFill>
              </a:rPr>
              <a:t>Impacto: ALTO  ·  Categoría: Responsive / UX  ·  Pantallas afectadas: 19, 25, 11, 48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4A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⬛ Ancho mínimo del calendario: 880 px — en móvil queda sin encabezado de día ni franja horaria.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⬛ Formularios en dos columnas: campos comprimidos o cortados fuera de pantalla.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8712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⬛ El instructor o aprendiz no sabe cuándo es cada clase sin abrir el detalle de cada tarjeta.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3E3E"/>
                </a:solidFill>
              </a:rPr>
              <a:t>ANTES — Vista ilegible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611880"/>
            <a:ext cx="4389120" cy="2514600"/>
          </a:xfrm>
          <a:prstGeom prst="roundRect">
            <a:avLst>
              <a:gd name="adj" fmla="val 2909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502920" y="3730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Recomendación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1148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• Vista de agenda agrupada por día en móvil (día y franja como encabezado).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2920" y="473659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• Formularios a una sola columna en pantallas &lt; 640 px.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02920" y="535838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• Modales: máximo 92 % de altura de pantalla con scroll interno.</a:t>
            </a:r>
            <a:endParaRPr lang="en-US" sz="1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75FA181-0A27-031E-956F-5B31F1FD8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312" y="1435608"/>
            <a:ext cx="237673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H3 — Gráfica de riesgo sin valores ni umbral correcto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126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D7D7"/>
                </a:solidFill>
              </a:rPr>
              <a:t>Impacto: ALTO  ·  Categoría: Visualización  ·  Pantallas: 29 (Panel director), 30 (Drill-down KPI)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98080" y="11430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3E3E"/>
                </a:solidFill>
              </a:rPr>
              <a:t>PROBLEMAS DETECTADOS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0" y="1600200"/>
            <a:ext cx="42519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7498080" y="1600200"/>
            <a:ext cx="109728" cy="1188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7680960" y="1673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4A"/>
                </a:solidFill>
              </a:rPr>
              <a:t>Barras sin valores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19842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Tres barras (Seguimiento/Riesgo/Crítico) sin números encima, sin eje Y. Los KPI cards ya muestran los números — la gráfica no añade contexto.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98080" y="2971800"/>
            <a:ext cx="42519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7498080" y="2971800"/>
            <a:ext cx="109728" cy="1188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680960" y="3044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4A"/>
                </a:solidFill>
              </a:rPr>
              <a:t>Sin período de referencia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0" y="33558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No se indica si la distribución corresponde al mes, semana o ciclo lectivo.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98080" y="4535424"/>
            <a:ext cx="4251960" cy="777240"/>
          </a:xfrm>
          <a:prstGeom prst="roundRect">
            <a:avLst>
              <a:gd name="adj" fmla="val 8235"/>
            </a:avLst>
          </a:prstGeom>
          <a:solidFill>
            <a:srgbClr val="F0FFF4"/>
          </a:solidFill>
          <a:ln w="12700">
            <a:solidFill>
              <a:srgbClr val="2D8C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7635240" y="46451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749"/>
                </a:solidFill>
              </a:rPr>
              <a:t>✅  Solución: Valores sobre cada barra · Período visible · Umbral vinculado al parámetro real (80 %)</a:t>
            </a:r>
            <a:endParaRPr lang="en-US" sz="95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89FE3CB-24A4-8F13-7759-5E633071F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1077137"/>
            <a:ext cx="7360920" cy="3860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H4 — Avance curricular ingresado manualmente sin cálculo automático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126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D7D7"/>
                </a:solidFill>
              </a:rPr>
              <a:t>Impacto: ALTO  ·  Categoría: Datos / Funcionalidad  ·  Pantallas: 23, 24, 29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303520" cy="534924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❌  SITUACIÓN ACTUAL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El instructor escribe el </a:t>
            </a:r>
            <a:r>
              <a:rPr lang="en-US" sz="1100" dirty="0" err="1">
                <a:solidFill>
                  <a:srgbClr val="4A5568"/>
                </a:solidFill>
              </a:rPr>
              <a:t>porcentaje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22960" y="22128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Avance curricular (%):    [ 75 ]  ← estimación subjetiva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157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E3E"/>
                </a:solidFill>
              </a:rPr>
              <a:t>⚠ Sin relación con competencias ni sesiones ejecutadas.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906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E3E"/>
                </a:solidFill>
              </a:rPr>
              <a:t>⚠ Los KPIs del Director pierden confiabilidad.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5760720" cy="534924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2D8C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263640" y="3063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4A"/>
                </a:solidFill>
              </a:rPr>
              <a:t>Ejemplo 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4015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Actividades planificadas:   20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3703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8C56"/>
                </a:solidFill>
              </a:rPr>
              <a:t>Actividades completadas:  13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40050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Avance:  13 ÷ 20 × 100 = 65 %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4348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3447288" cy="457200"/>
          </a:xfrm>
          <a:prstGeom prst="roundRect">
            <a:avLst>
              <a:gd name="adj" fmla="val 12000"/>
            </a:avLst>
          </a:prstGeom>
          <a:solidFill>
            <a:srgbClr val="2D8C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263640" y="4434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65 %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50749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4A"/>
                </a:solidFill>
              </a:rPr>
              <a:t>✅ El sistema ya almacena ambos datos: sesiones ejecutadas + horas por competencia del currículo.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56235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Campo manual → solo como ajuste extraordinario con justificación obligatoria.</a:t>
            </a:r>
            <a:endParaRPr lang="en-US" sz="10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553F5B0-C15C-73E7-0871-7F13B3C258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067" r="4451"/>
          <a:stretch>
            <a:fillRect/>
          </a:stretch>
        </p:blipFill>
        <p:spPr>
          <a:xfrm>
            <a:off x="6035040" y="2310130"/>
            <a:ext cx="5679440" cy="31521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H5 — Sin aviso de tratamiento de datos personales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126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ED7D7"/>
                </a:solidFill>
              </a:rPr>
              <a:t>Impacto: ALTO  ·  Categoría: Privacidad / Seguridad  ·  Pantallas: 1 (Login), 2 (Recuperar), 3 (Nueva contraseña)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029200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A5568"/>
                </a:solidFill>
              </a:rPr>
              <a:t>DATOS TRATADOS POR EL SISTEMA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• Nombre y documento de instructores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50474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• Nombre y correo de aprendices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53858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• IPs de sesión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57241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• Estados académicos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0" y="114300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3E3E"/>
                </a:solidFill>
              </a:rPr>
              <a:t>MARCO NORMATIVO APLICABLE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1572768"/>
            <a:ext cx="6126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5669280" y="1572768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715000" y="17099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3E3E"/>
                </a:solidFill>
              </a:rPr>
              <a:t>Ley 1581 / 2012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09560" y="17282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Protección de datos personales en Colombia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0" y="2377440"/>
            <a:ext cx="6126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5669280" y="237744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5715000" y="2514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3E3E"/>
                </a:solidFill>
              </a:rPr>
              <a:t>Decreto 1377 / 2013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09560" y="25328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Reglamentación del tratamiento de datos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0" y="3182112"/>
            <a:ext cx="6126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5669280" y="3182112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5715000" y="33192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3E3E"/>
                </a:solidFill>
              </a:rPr>
              <a:t>Decreto 1074 / 2015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909560" y="3337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Marco único de reglamentación sectorial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3986784"/>
            <a:ext cx="6126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5669280" y="3986784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5715000" y="41239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3E3E"/>
                </a:solidFill>
              </a:rPr>
              <a:t>Ley 1273 / 2009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09560" y="41422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Delitos informáticos contra la información y datos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0" y="4791456"/>
            <a:ext cx="6126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7"/>
          <p:cNvSpPr/>
          <p:nvPr/>
        </p:nvSpPr>
        <p:spPr>
          <a:xfrm>
            <a:off x="5669280" y="4791456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5715000" y="49286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3E3E"/>
                </a:solidFill>
              </a:rPr>
              <a:t>Constitución Art. 15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909560" y="4946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Derecho a la intimidad y habeas data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669280" y="571500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0FFF4"/>
          </a:solidFill>
          <a:ln w="12700">
            <a:solidFill>
              <a:srgbClr val="2D8C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5806440" y="5806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</a:rPr>
              <a:t>✅  Solución: Añadir en el login un enlace visible a la política de privacidad institucional.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806440" y="61447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Costo técnico mínimo (solo un enlace) — riesgo regulatorio alto si se omite.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Resumen de hallazgos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DF4"/>
                </a:solidFill>
              </a:rPr>
              <a:t>7 hallazgos · 5 de impacto Alto · 2 de impacto Medio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30000" cy="658368"/>
          </a:xfrm>
          <a:prstGeom prst="roundRect">
            <a:avLst>
              <a:gd name="adj" fmla="val 9722"/>
            </a:avLst>
          </a:prstGeom>
          <a:solidFill>
            <a:srgbClr val="FEFCB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566928" cy="438912"/>
          </a:xfrm>
          <a:prstGeom prst="roundRect">
            <a:avLst>
              <a:gd name="adj" fmla="val 10417"/>
            </a:avLst>
          </a:prstGeom>
          <a:solidFill>
            <a:srgbClr val="D69E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1430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Problemas generales de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4813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0" y="1225296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D69E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058400" y="1225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47088"/>
            <a:ext cx="11430000" cy="658368"/>
          </a:xfrm>
          <a:prstGeom prst="roundRect">
            <a:avLst>
              <a:gd name="adj" fmla="val 9722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7200" y="1956816"/>
            <a:ext cx="566928" cy="438912"/>
          </a:xfrm>
          <a:prstGeom prst="roundRect">
            <a:avLst>
              <a:gd name="adj" fmla="val 10417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1956816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18928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Calendario semanal y formularios inusables en móvil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23113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Responsive / UX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0" y="1975104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0058400" y="19751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96896"/>
            <a:ext cx="11430000" cy="658368"/>
          </a:xfrm>
          <a:prstGeom prst="roundRect">
            <a:avLst>
              <a:gd name="adj" fmla="val 9722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566928" cy="438912"/>
          </a:xfrm>
          <a:prstGeom prst="roundRect">
            <a:avLst>
              <a:gd name="adj" fmla="val 10417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" y="2706624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6426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Gráfica de riesgo sin valores ni umbral correcto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9809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Visualización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58400" y="2724912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058400" y="27249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346704"/>
            <a:ext cx="11430000" cy="658368"/>
          </a:xfrm>
          <a:prstGeom prst="roundRect">
            <a:avLst>
              <a:gd name="adj" fmla="val 9722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57200" y="3456432"/>
            <a:ext cx="566928" cy="438912"/>
          </a:xfrm>
          <a:prstGeom prst="roundRect">
            <a:avLst>
              <a:gd name="adj" fmla="val 10417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57200" y="3456432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3924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Avance curricular manual sin cálculo automático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3730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Datos / Funcionalidad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058400" y="3474720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10058400" y="3474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206240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0" y="42245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ALTO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076192"/>
            <a:ext cx="11430000" cy="658368"/>
          </a:xfrm>
          <a:prstGeom prst="roundRect">
            <a:avLst>
              <a:gd name="adj" fmla="val 9722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457200" y="4185920"/>
            <a:ext cx="566928" cy="438912"/>
          </a:xfrm>
          <a:prstGeom prst="roundRect">
            <a:avLst>
              <a:gd name="adj" fmla="val 10417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57200" y="4185920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43000" y="41219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Sin aviso de tratamiento de datos personales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3000" y="4460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Privacidad / Seguridad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058400" y="4204208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0058400" y="420420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ALTO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826000"/>
            <a:ext cx="11430000" cy="658368"/>
          </a:xfrm>
          <a:prstGeom prst="roundRect">
            <a:avLst>
              <a:gd name="adj" fmla="val 9722"/>
            </a:avLst>
          </a:prstGeom>
          <a:solidFill>
            <a:srgbClr val="FEFCB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457200" y="4935728"/>
            <a:ext cx="566928" cy="438912"/>
          </a:xfrm>
          <a:prstGeom prst="roundRect">
            <a:avLst>
              <a:gd name="adj" fmla="val 10417"/>
            </a:avLst>
          </a:prstGeom>
          <a:solidFill>
            <a:srgbClr val="D69E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57200" y="4935728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43000" y="48717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4A"/>
                </a:solidFill>
              </a:rPr>
              <a:t>Acciones múltiples colisionadas en tablas móvil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43000" y="59801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Responsive / UI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058400" y="4954016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D69E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10058400" y="495401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881</Words>
  <Application>Microsoft Office PowerPoint</Application>
  <PresentationFormat>Panorámica</PresentationFormat>
  <Paragraphs>150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Dana Salome</cp:lastModifiedBy>
  <cp:revision>2</cp:revision>
  <dcterms:created xsi:type="dcterms:W3CDTF">2026-08-08T20:55:08Z</dcterms:created>
  <dcterms:modified xsi:type="dcterms:W3CDTF">2026-08-08T21:08:03Z</dcterms:modified>
</cp:coreProperties>
</file>