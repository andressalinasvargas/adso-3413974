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Montserrat" charset="1" panose="00000500000000000000"/>
      <p:regular r:id="rId21"/>
    </p:embeddedFont>
    <p:embeddedFont>
      <p:font typeface="Montserrat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jpe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16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5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jpe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7.jpe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7.jpe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7.jpe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49.pn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21856" y="6564773"/>
            <a:ext cx="11444288" cy="1328738"/>
            <a:chOff x="0" y="0"/>
            <a:chExt cx="15259050" cy="177165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5259050" cy="1771650"/>
            </a:xfrm>
            <a:custGeom>
              <a:avLst/>
              <a:gdLst/>
              <a:ahLst/>
              <a:cxnLst/>
              <a:rect r="r" b="b" t="t" l="l"/>
              <a:pathLst>
                <a:path h="1771650" w="15259050">
                  <a:moveTo>
                    <a:pt x="0" y="0"/>
                  </a:moveTo>
                  <a:lnTo>
                    <a:pt x="15259050" y="0"/>
                  </a:lnTo>
                  <a:lnTo>
                    <a:pt x="15259050" y="1771650"/>
                  </a:lnTo>
                  <a:lnTo>
                    <a:pt x="0" y="1771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14412" y="728662"/>
            <a:ext cx="16259175" cy="813492"/>
            <a:chOff x="0" y="0"/>
            <a:chExt cx="21678900" cy="1084656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1678900" cy="1084707"/>
            </a:xfrm>
            <a:custGeom>
              <a:avLst/>
              <a:gdLst/>
              <a:ahLst/>
              <a:cxnLst/>
              <a:rect r="r" b="b" t="t" l="l"/>
              <a:pathLst>
                <a:path h="1084707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1084707"/>
                  </a:lnTo>
                  <a:lnTo>
                    <a:pt x="0" y="1084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68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443162" y="478184"/>
            <a:ext cx="7858125" cy="723976"/>
            <a:chOff x="0" y="0"/>
            <a:chExt cx="10477500" cy="965302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477500" cy="965327"/>
            </a:xfrm>
            <a:custGeom>
              <a:avLst/>
              <a:gdLst/>
              <a:ahLst/>
              <a:cxnLst/>
              <a:rect r="r" b="b" t="t" l="l"/>
              <a:pathLst>
                <a:path h="965327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965327"/>
                  </a:lnTo>
                  <a:lnTo>
                    <a:pt x="0" y="96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6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414338" y="6202785"/>
            <a:ext cx="7858125" cy="723976"/>
            <a:chOff x="0" y="0"/>
            <a:chExt cx="10477500" cy="965302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477500" cy="965327"/>
            </a:xfrm>
            <a:custGeom>
              <a:avLst/>
              <a:gdLst/>
              <a:ahLst/>
              <a:cxnLst/>
              <a:rect r="r" b="b" t="t" l="l"/>
              <a:pathLst>
                <a:path h="965327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965327"/>
                  </a:lnTo>
                  <a:lnTo>
                    <a:pt x="0" y="96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61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422356" y="4226423"/>
            <a:ext cx="228600" cy="200025"/>
            <a:chOff x="0" y="0"/>
            <a:chExt cx="304800" cy="2667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304800" cy="266700"/>
            </a:xfrm>
            <a:custGeom>
              <a:avLst/>
              <a:gdLst/>
              <a:ahLst/>
              <a:cxnLst/>
              <a:rect r="r" b="b" t="t" l="l"/>
              <a:pathLst>
                <a:path h="2667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8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079081" y="6917198"/>
            <a:ext cx="3929062" cy="60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2DD4BF"/>
                </a:solidFill>
                <a:latin typeface="Arimo Bold"/>
                <a:ea typeface="Arimo Bold"/>
                <a:cs typeface="Arimo Bold"/>
                <a:sym typeface="Arimo Bold"/>
              </a:rPr>
              <a:t>APRENDIZ</a:t>
            </a:r>
            <a:r>
              <a:rPr lang="en-US" sz="180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 Andrés Fernando Salinas Vargas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65394" y="6917198"/>
            <a:ext cx="2971800" cy="60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2DD4BF"/>
                </a:solidFill>
                <a:latin typeface="Arimo Bold"/>
                <a:ea typeface="Arimo Bold"/>
                <a:cs typeface="Arimo Bold"/>
                <a:sym typeface="Arimo Bold"/>
              </a:rPr>
              <a:t>INSTRUCTOR</a:t>
            </a:r>
            <a:r>
              <a:rPr lang="en-US" sz="180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 Juan Carlos Ramírez Diaz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94444" y="6917198"/>
            <a:ext cx="1514475" cy="604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2DD4BF"/>
                </a:solidFill>
                <a:latin typeface="Arimo Bold"/>
                <a:ea typeface="Arimo Bold"/>
                <a:cs typeface="Arimo Bold"/>
                <a:sym typeface="Arimo Bold"/>
              </a:rPr>
              <a:t>FECHA</a:t>
            </a:r>
            <a:r>
              <a:rPr lang="en-US" sz="180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 19/05/2026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421856" y="1916659"/>
            <a:ext cx="11444288" cy="3226841"/>
            <a:chOff x="0" y="0"/>
            <a:chExt cx="15259050" cy="43024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259050" cy="4302506"/>
            </a:xfrm>
            <a:custGeom>
              <a:avLst/>
              <a:gdLst/>
              <a:ahLst/>
              <a:cxnLst/>
              <a:rect r="r" b="b" t="t" l="l"/>
              <a:pathLst>
                <a:path h="4302506" w="15259050">
                  <a:moveTo>
                    <a:pt x="0" y="2151253"/>
                  </a:moveTo>
                  <a:cubicBezTo>
                    <a:pt x="0" y="963168"/>
                    <a:pt x="963168" y="0"/>
                    <a:pt x="2151253" y="0"/>
                  </a:cubicBezTo>
                  <a:lnTo>
                    <a:pt x="13107797" y="0"/>
                  </a:lnTo>
                  <a:cubicBezTo>
                    <a:pt x="14295882" y="0"/>
                    <a:pt x="15259050" y="963168"/>
                    <a:pt x="15259050" y="2151253"/>
                  </a:cubicBezTo>
                  <a:cubicBezTo>
                    <a:pt x="15259050" y="3339338"/>
                    <a:pt x="14295882" y="4302506"/>
                    <a:pt x="13107797" y="4302506"/>
                  </a:cubicBezTo>
                  <a:lnTo>
                    <a:pt x="2151253" y="4302506"/>
                  </a:lnTo>
                  <a:cubicBezTo>
                    <a:pt x="963168" y="4302506"/>
                    <a:pt x="0" y="3339338"/>
                    <a:pt x="0" y="2151253"/>
                  </a:cubicBezTo>
                  <a:close/>
                </a:path>
              </a:pathLst>
            </a:custGeom>
            <a:solidFill>
              <a:srgbClr val="1F1E1E">
                <a:alpha val="0"/>
              </a:srgbClr>
            </a:solidFill>
            <a:ln w="14288" cap="sq">
              <a:solidFill>
                <a:srgbClr val="2DD4B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4079081" y="2214882"/>
            <a:ext cx="10028701" cy="250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5"/>
              </a:lnSpc>
            </a:pPr>
            <a:r>
              <a:rPr lang="en-US" sz="720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Respuestas sobre</a:t>
            </a:r>
          </a:p>
          <a:p>
            <a:pPr algn="ctr">
              <a:lnSpc>
                <a:spcPts val="9935"/>
              </a:lnSpc>
            </a:pPr>
            <a:r>
              <a:rPr lang="en-US" sz="720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Sistemas Operativos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0125" y="4035152"/>
            <a:ext cx="7915275" cy="3714531"/>
            <a:chOff x="0" y="0"/>
            <a:chExt cx="10553700" cy="4952708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0553700" cy="4952746"/>
            </a:xfrm>
            <a:custGeom>
              <a:avLst/>
              <a:gdLst/>
              <a:ahLst/>
              <a:cxnLst/>
              <a:rect r="r" b="b" t="t" l="l"/>
              <a:pathLst>
                <a:path h="4952746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4952746"/>
                  </a:lnTo>
                  <a:lnTo>
                    <a:pt x="0" y="4952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344025" y="4035152"/>
            <a:ext cx="7915275" cy="3714531"/>
            <a:chOff x="0" y="0"/>
            <a:chExt cx="10553700" cy="4952708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53700" cy="4952746"/>
            </a:xfrm>
            <a:custGeom>
              <a:avLst/>
              <a:gdLst/>
              <a:ahLst/>
              <a:cxnLst/>
              <a:rect r="r" b="b" t="t" l="l"/>
              <a:pathLst>
                <a:path h="4952746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4952746"/>
                  </a:lnTo>
                  <a:lnTo>
                    <a:pt x="0" y="49527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4412" y="728662"/>
            <a:ext cx="16259175" cy="1927917"/>
            <a:chOff x="0" y="0"/>
            <a:chExt cx="21678900" cy="2570556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1678900" cy="2570607"/>
            </a:xfrm>
            <a:custGeom>
              <a:avLst/>
              <a:gdLst/>
              <a:ahLst/>
              <a:cxnLst/>
              <a:rect r="r" b="b" t="t" l="l"/>
              <a:pathLst>
                <a:path h="2570607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2570607"/>
                  </a:lnTo>
                  <a:lnTo>
                    <a:pt x="0" y="2570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34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43162" y="513455"/>
            <a:ext cx="7858125" cy="1715614"/>
            <a:chOff x="0" y="0"/>
            <a:chExt cx="10477500" cy="2287486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477500" cy="2287524"/>
            </a:xfrm>
            <a:custGeom>
              <a:avLst/>
              <a:gdLst/>
              <a:ahLst/>
              <a:cxnLst/>
              <a:rect r="r" b="b" t="t" l="l"/>
              <a:pathLst>
                <a:path h="2287524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2287524"/>
                  </a:lnTo>
                  <a:lnTo>
                    <a:pt x="0" y="2287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59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658975" y="7959233"/>
            <a:ext cx="26003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Andrés Fernando Salinas Vargas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114550" y="4549502"/>
            <a:ext cx="6600825" cy="414338"/>
            <a:chOff x="0" y="0"/>
            <a:chExt cx="8801100" cy="5524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801100" cy="552450"/>
            </a:xfrm>
            <a:custGeom>
              <a:avLst/>
              <a:gdLst/>
              <a:ahLst/>
              <a:cxnLst/>
              <a:rect r="r" b="b" t="t" l="l"/>
              <a:pathLst>
                <a:path h="552450" w="8801100">
                  <a:moveTo>
                    <a:pt x="0" y="0"/>
                  </a:moveTo>
                  <a:lnTo>
                    <a:pt x="8801100" y="0"/>
                  </a:lnTo>
                  <a:lnTo>
                    <a:pt x="8801100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0416" r="0" b="-26041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880110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2DD4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Software Principal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14475" y="5035277"/>
            <a:ext cx="6886575" cy="220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Un sistema operativo es el software principal de un computador o dispositivo electrónico. Se encarga de administrar los recursos del hardware y permitir la comunicación entre el usuario, las aplicaciones y los componentes físicos del sistema.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372725" y="4755109"/>
            <a:ext cx="6690836" cy="414338"/>
            <a:chOff x="0" y="0"/>
            <a:chExt cx="8921115" cy="5524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921114" cy="552450"/>
            </a:xfrm>
            <a:custGeom>
              <a:avLst/>
              <a:gdLst/>
              <a:ahLst/>
              <a:cxnLst/>
              <a:rect r="r" b="b" t="t" l="l"/>
              <a:pathLst>
                <a:path h="552450" w="8921114">
                  <a:moveTo>
                    <a:pt x="0" y="0"/>
                  </a:moveTo>
                  <a:lnTo>
                    <a:pt x="8921114" y="0"/>
                  </a:lnTo>
                  <a:lnTo>
                    <a:pt x="8921114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4649" r="0" b="-26464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8921115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2DD4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El Intermediario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858375" y="5240884"/>
            <a:ext cx="6886575" cy="178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En otras palabras, actúa como intermediario entre el usuario y el computador, haciendo posible que los programas funcionen correctamente y que el equipo pueda realizar diferentes tareas de forma organizada.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14475" y="4585221"/>
            <a:ext cx="428625" cy="342900"/>
            <a:chOff x="0" y="0"/>
            <a:chExt cx="571500" cy="4572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571500" cy="457200"/>
            </a:xfrm>
            <a:custGeom>
              <a:avLst/>
              <a:gdLst/>
              <a:ahLst/>
              <a:cxnLst/>
              <a:rect r="r" b="b" t="t" l="l"/>
              <a:pathLst>
                <a:path h="4572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416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858375" y="4790828"/>
            <a:ext cx="342900" cy="342900"/>
            <a:chOff x="0" y="0"/>
            <a:chExt cx="457200" cy="4572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416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15866" y="2320823"/>
            <a:ext cx="17072134" cy="853469"/>
            <a:chOff x="0" y="0"/>
            <a:chExt cx="22762845" cy="113795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762845" cy="1137958"/>
            </a:xfrm>
            <a:custGeom>
              <a:avLst/>
              <a:gdLst/>
              <a:ahLst/>
              <a:cxnLst/>
              <a:rect r="r" b="b" t="t" l="l"/>
              <a:pathLst>
                <a:path h="1137958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1137958"/>
                  </a:lnTo>
                  <a:lnTo>
                    <a:pt x="0" y="113795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0423" r="0" b="-32910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22762845" cy="1137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1. ¿Qué es un sistema operativo?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42782" y="3686175"/>
            <a:ext cx="7130796" cy="5429250"/>
            <a:chOff x="0" y="0"/>
            <a:chExt cx="9507728" cy="7239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507728" cy="7239000"/>
            </a:xfrm>
            <a:custGeom>
              <a:avLst/>
              <a:gdLst/>
              <a:ahLst/>
              <a:cxnLst/>
              <a:rect r="r" b="b" t="t" l="l"/>
              <a:pathLst>
                <a:path h="7239000" w="9507728">
                  <a:moveTo>
                    <a:pt x="0" y="0"/>
                  </a:moveTo>
                  <a:lnTo>
                    <a:pt x="9507728" y="0"/>
                  </a:lnTo>
                  <a:lnTo>
                    <a:pt x="9507728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8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14412" y="728662"/>
            <a:ext cx="16259175" cy="1020661"/>
            <a:chOff x="0" y="0"/>
            <a:chExt cx="21678900" cy="136088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1678900" cy="1360932"/>
            </a:xfrm>
            <a:custGeom>
              <a:avLst/>
              <a:gdLst/>
              <a:ahLst/>
              <a:cxnLst/>
              <a:rect r="r" b="b" t="t" l="l"/>
              <a:pathLst>
                <a:path h="1360932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1360932"/>
                  </a:lnTo>
                  <a:lnTo>
                    <a:pt x="0" y="1360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00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414338" y="4606823"/>
            <a:ext cx="7858125" cy="908152"/>
            <a:chOff x="0" y="0"/>
            <a:chExt cx="10477500" cy="1210869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477500" cy="1210818"/>
            </a:xfrm>
            <a:custGeom>
              <a:avLst/>
              <a:gdLst/>
              <a:ahLst/>
              <a:cxnLst/>
              <a:rect r="r" b="b" t="t" l="l"/>
              <a:pathLst>
                <a:path h="1210818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1210818"/>
                  </a:lnTo>
                  <a:lnTo>
                    <a:pt x="0" y="1210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26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73262" y="9324975"/>
            <a:ext cx="26003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Andrés Fernando Salinas Vargas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4412" y="4486275"/>
            <a:ext cx="8556869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La función principal del sistema operativo es administrar y coordinar los recursos del computador, como el procesador, la memoria RAM, el almacenamiento y los dispositivos conectados.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4412" y="6600825"/>
            <a:ext cx="8556869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Además, permite ejecutar aplicaciones, gestionar archivos, controlar procesos y facilitar la interacción entre el usuario y el sistema.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157069" y="3700462"/>
            <a:ext cx="7102221" cy="5400675"/>
            <a:chOff x="0" y="0"/>
            <a:chExt cx="9469628" cy="72009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9469628" cy="7200900"/>
            </a:xfrm>
            <a:custGeom>
              <a:avLst/>
              <a:gdLst/>
              <a:ahLst/>
              <a:cxnLst/>
              <a:rect r="r" b="b" t="t" l="l"/>
              <a:pathLst>
                <a:path h="7200900" w="9469628">
                  <a:moveTo>
                    <a:pt x="0" y="0"/>
                  </a:moveTo>
                  <a:lnTo>
                    <a:pt x="9469628" y="0"/>
                  </a:lnTo>
                  <a:lnTo>
                    <a:pt x="9469628" y="7200900"/>
                  </a:lnTo>
                  <a:lnTo>
                    <a:pt x="0" y="720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5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14412" y="2657475"/>
            <a:ext cx="17072134" cy="671512"/>
            <a:chOff x="0" y="0"/>
            <a:chExt cx="22762845" cy="8953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762845" cy="895350"/>
            </a:xfrm>
            <a:custGeom>
              <a:avLst/>
              <a:gdLst/>
              <a:ahLst/>
              <a:cxnLst/>
              <a:rect r="r" b="b" t="t" l="l"/>
              <a:pathLst>
                <a:path h="895350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895350"/>
                  </a:lnTo>
                  <a:lnTo>
                    <a:pt x="0" y="8953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45376" r="0" b="-44537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2762845" cy="895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2. ¿Cuál es la función principal?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4412" y="4029075"/>
            <a:ext cx="5181676" cy="4014788"/>
            <a:chOff x="0" y="0"/>
            <a:chExt cx="6908902" cy="535305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6908927" cy="5353050"/>
            </a:xfrm>
            <a:custGeom>
              <a:avLst/>
              <a:gdLst/>
              <a:ahLst/>
              <a:cxnLst/>
              <a:rect r="r" b="b" t="t" l="l"/>
              <a:pathLst>
                <a:path h="535305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5353050"/>
                  </a:lnTo>
                  <a:lnTo>
                    <a:pt x="0" y="5353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22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553276" y="4029075"/>
            <a:ext cx="5181676" cy="4014788"/>
            <a:chOff x="0" y="0"/>
            <a:chExt cx="6908902" cy="5353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908927" cy="5353050"/>
            </a:xfrm>
            <a:custGeom>
              <a:avLst/>
              <a:gdLst/>
              <a:ahLst/>
              <a:cxnLst/>
              <a:rect r="r" b="b" t="t" l="l"/>
              <a:pathLst>
                <a:path h="535305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5353050"/>
                  </a:lnTo>
                  <a:lnTo>
                    <a:pt x="0" y="5353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092140" y="4029075"/>
            <a:ext cx="5181676" cy="4014788"/>
            <a:chOff x="0" y="0"/>
            <a:chExt cx="6908902" cy="53530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908927" cy="5353050"/>
            </a:xfrm>
            <a:custGeom>
              <a:avLst/>
              <a:gdLst/>
              <a:ahLst/>
              <a:cxnLst/>
              <a:rect r="r" b="b" t="t" l="l"/>
              <a:pathLst>
                <a:path h="535305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5353050"/>
                  </a:lnTo>
                  <a:lnTo>
                    <a:pt x="0" y="5353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1E1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14412" y="728662"/>
            <a:ext cx="16259175" cy="1768973"/>
            <a:chOff x="0" y="0"/>
            <a:chExt cx="21678900" cy="2358631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1678900" cy="2358644"/>
            </a:xfrm>
            <a:custGeom>
              <a:avLst/>
              <a:gdLst/>
              <a:ahLst/>
              <a:cxnLst/>
              <a:rect r="r" b="b" t="t" l="l"/>
              <a:pathLst>
                <a:path h="2358644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2358644"/>
                  </a:lnTo>
                  <a:lnTo>
                    <a:pt x="0" y="23586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58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443162" y="354511"/>
            <a:ext cx="7858125" cy="1574302"/>
            <a:chOff x="0" y="0"/>
            <a:chExt cx="10477500" cy="2099069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477500" cy="2099056"/>
            </a:xfrm>
            <a:custGeom>
              <a:avLst/>
              <a:gdLst/>
              <a:ahLst/>
              <a:cxnLst/>
              <a:rect r="r" b="b" t="t" l="l"/>
              <a:pathLst>
                <a:path h="2099056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2099056"/>
                  </a:lnTo>
                  <a:lnTo>
                    <a:pt x="0" y="209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73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14412" y="9115425"/>
            <a:ext cx="16259175" cy="442912"/>
            <a:chOff x="0" y="0"/>
            <a:chExt cx="21678900" cy="5905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1678900" cy="590550"/>
            </a:xfrm>
            <a:custGeom>
              <a:avLst/>
              <a:gdLst/>
              <a:ahLst/>
              <a:cxnLst/>
              <a:rect r="r" b="b" t="t" l="l"/>
              <a:pathLst>
                <a:path h="590550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75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4673262" y="9324975"/>
            <a:ext cx="26003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Andrés Fernando Salinas Vargas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57325" y="5362575"/>
            <a:ext cx="451064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Funcionamiento Core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57325" y="5762625"/>
            <a:ext cx="4295851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El sistema operativo es importante porque sin él el computador no podría funcionar correctamente. Gracias a este software, el hardware puede trabajar de forma organizada.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96189" y="5362575"/>
            <a:ext cx="451064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Productividad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96189" y="5762625"/>
            <a:ext cx="4295851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Permite al usuario utilizar programas con agilidad, almacenar información estructurada de forma segura y ejecutar tareas lógicas sin complicaciones técnicas.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35052" y="5362575"/>
            <a:ext cx="451064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Seguridad y Control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35052" y="5762625"/>
            <a:ext cx="4295851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También proporciona seguridad, estabilidad y control sobre los recursos físicos y lógicos del sistema, mejorando el rendimiento general de todo el equipo.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457325" y="4557712"/>
            <a:ext cx="514350" cy="514350"/>
            <a:chOff x="0" y="0"/>
            <a:chExt cx="685800" cy="6858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996189" y="4557712"/>
            <a:ext cx="514350" cy="514350"/>
            <a:chOff x="0" y="0"/>
            <a:chExt cx="685800" cy="6858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535052" y="4557712"/>
            <a:ext cx="514350" cy="514350"/>
            <a:chOff x="0" y="0"/>
            <a:chExt cx="685800" cy="6858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28700" y="1826123"/>
            <a:ext cx="17072134" cy="671512"/>
            <a:chOff x="0" y="0"/>
            <a:chExt cx="22762845" cy="8953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762845" cy="895350"/>
            </a:xfrm>
            <a:custGeom>
              <a:avLst/>
              <a:gdLst/>
              <a:ahLst/>
              <a:cxnLst/>
              <a:rect r="r" b="b" t="t" l="l"/>
              <a:pathLst>
                <a:path h="895350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895350"/>
                  </a:lnTo>
                  <a:lnTo>
                    <a:pt x="0" y="8953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45376" r="0" b="-44537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2762845" cy="895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3. ¿Por qué es importante?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5866" y="4000426"/>
            <a:ext cx="5181676" cy="4057650"/>
            <a:chOff x="0" y="0"/>
            <a:chExt cx="6908902" cy="54102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6908927" cy="5410200"/>
            </a:xfrm>
            <a:custGeom>
              <a:avLst/>
              <a:gdLst/>
              <a:ahLst/>
              <a:cxnLst/>
              <a:rect r="r" b="b" t="t" l="l"/>
              <a:pathLst>
                <a:path h="541020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5410200"/>
                  </a:lnTo>
                  <a:lnTo>
                    <a:pt x="0" y="5410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22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754730" y="4000426"/>
            <a:ext cx="5181676" cy="4057650"/>
            <a:chOff x="0" y="0"/>
            <a:chExt cx="6908902" cy="54102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908927" cy="5410200"/>
            </a:xfrm>
            <a:custGeom>
              <a:avLst/>
              <a:gdLst/>
              <a:ahLst/>
              <a:cxnLst/>
              <a:rect r="r" b="b" t="t" l="l"/>
              <a:pathLst>
                <a:path h="541020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5410200"/>
                  </a:lnTo>
                  <a:lnTo>
                    <a:pt x="0" y="5410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22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93594" y="4000426"/>
            <a:ext cx="5181676" cy="4057650"/>
            <a:chOff x="0" y="0"/>
            <a:chExt cx="6908902" cy="54102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908927" cy="5410200"/>
            </a:xfrm>
            <a:custGeom>
              <a:avLst/>
              <a:gdLst/>
              <a:ahLst/>
              <a:cxnLst/>
              <a:rect r="r" b="b" t="t" l="l"/>
              <a:pathLst>
                <a:path h="541020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5410200"/>
                  </a:lnTo>
                  <a:lnTo>
                    <a:pt x="0" y="5410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222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14412" y="728662"/>
            <a:ext cx="16259175" cy="1746199"/>
            <a:chOff x="0" y="0"/>
            <a:chExt cx="21678900" cy="2328266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1678900" cy="2328291"/>
            </a:xfrm>
            <a:custGeom>
              <a:avLst/>
              <a:gdLst/>
              <a:ahLst/>
              <a:cxnLst/>
              <a:rect r="r" b="b" t="t" l="l"/>
              <a:pathLst>
                <a:path h="2328291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2328291"/>
                  </a:lnTo>
                  <a:lnTo>
                    <a:pt x="0" y="2328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7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212884" y="4275013"/>
            <a:ext cx="7858125" cy="1554213"/>
            <a:chOff x="0" y="0"/>
            <a:chExt cx="10477500" cy="2072284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477500" cy="2072259"/>
            </a:xfrm>
            <a:custGeom>
              <a:avLst/>
              <a:gdLst/>
              <a:ahLst/>
              <a:cxnLst/>
              <a:rect r="r" b="b" t="t" l="l"/>
              <a:pathLst>
                <a:path h="2072259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2072259"/>
                  </a:lnTo>
                  <a:lnTo>
                    <a:pt x="0" y="2072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12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14412" y="9115425"/>
            <a:ext cx="16259175" cy="442912"/>
            <a:chOff x="0" y="0"/>
            <a:chExt cx="21678900" cy="5905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1678900" cy="590550"/>
            </a:xfrm>
            <a:custGeom>
              <a:avLst/>
              <a:gdLst/>
              <a:ahLst/>
              <a:cxnLst/>
              <a:rect r="r" b="b" t="t" l="l"/>
              <a:pathLst>
                <a:path h="590550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590550"/>
                  </a:lnTo>
                  <a:lnTo>
                    <a:pt x="0" y="59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75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4673262" y="9324975"/>
            <a:ext cx="26003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Andrés Fernando Salinas Vargas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8779" y="5376789"/>
            <a:ext cx="451064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Windows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58779" y="5776839"/>
            <a:ext cx="4295851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Sistema operativo comercial líder del mercado. Ampliamente enfocado en equipos de escritorio, computadores de consumo y entornos corporativos.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97642" y="5376789"/>
            <a:ext cx="451064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Linux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97642" y="5776839"/>
            <a:ext cx="4295851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Ecosistema de código abierto reconocido por su alta seguridad, control absoluto del kernel, robustez y su masivo dominio en servidores mundiales.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36506" y="5376789"/>
            <a:ext cx="451064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Android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36506" y="5776839"/>
            <a:ext cx="4295851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Sistema operativo móvil basado en el núcleo de Linux. Diseñado específicamente para pantallas táctiles de celulares, tabletas y wearables.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58779" y="4571926"/>
            <a:ext cx="457200" cy="514350"/>
            <a:chOff x="0" y="0"/>
            <a:chExt cx="609600" cy="6858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609600" cy="685800"/>
            </a:xfrm>
            <a:custGeom>
              <a:avLst/>
              <a:gdLst/>
              <a:ahLst/>
              <a:cxnLst/>
              <a:rect r="r" b="b" t="t" l="l"/>
              <a:pathLst>
                <a:path h="685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197642" y="4571926"/>
            <a:ext cx="457200" cy="514350"/>
            <a:chOff x="0" y="0"/>
            <a:chExt cx="609600" cy="6858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609600" cy="685800"/>
            </a:xfrm>
            <a:custGeom>
              <a:avLst/>
              <a:gdLst/>
              <a:ahLst/>
              <a:cxnLst/>
              <a:rect r="r" b="b" t="t" l="l"/>
              <a:pathLst>
                <a:path h="685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736506" y="4571926"/>
            <a:ext cx="585788" cy="514350"/>
            <a:chOff x="0" y="0"/>
            <a:chExt cx="781050" cy="6858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781050" cy="685800"/>
            </a:xfrm>
            <a:custGeom>
              <a:avLst/>
              <a:gdLst/>
              <a:ahLst/>
              <a:cxnLst/>
              <a:rect r="r" b="b" t="t" l="l"/>
              <a:pathLst>
                <a:path h="685800" w="781050">
                  <a:moveTo>
                    <a:pt x="0" y="0"/>
                  </a:moveTo>
                  <a:lnTo>
                    <a:pt x="781050" y="0"/>
                  </a:lnTo>
                  <a:lnTo>
                    <a:pt x="7810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15866" y="2271639"/>
            <a:ext cx="17072134" cy="671512"/>
            <a:chOff x="0" y="0"/>
            <a:chExt cx="22762845" cy="8953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762845" cy="895350"/>
            </a:xfrm>
            <a:custGeom>
              <a:avLst/>
              <a:gdLst/>
              <a:ahLst/>
              <a:cxnLst/>
              <a:rect r="r" b="b" t="t" l="l"/>
              <a:pathLst>
                <a:path h="895350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895350"/>
                  </a:lnTo>
                  <a:lnTo>
                    <a:pt x="0" y="8953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45376" r="0" b="-44537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2762845" cy="895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4. Ejemplos de sistemas operativos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800585"/>
            <a:ext cx="7915275" cy="3714531"/>
            <a:chOff x="0" y="0"/>
            <a:chExt cx="10553700" cy="4952708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0553700" cy="4952746"/>
            </a:xfrm>
            <a:custGeom>
              <a:avLst/>
              <a:gdLst/>
              <a:ahLst/>
              <a:cxnLst/>
              <a:rect r="r" b="b" t="t" l="l"/>
              <a:pathLst>
                <a:path h="4952746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4952746"/>
                  </a:lnTo>
                  <a:lnTo>
                    <a:pt x="0" y="4952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372600" y="3800585"/>
            <a:ext cx="7915275" cy="3714531"/>
            <a:chOff x="0" y="0"/>
            <a:chExt cx="10553700" cy="4952708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53700" cy="4952746"/>
            </a:xfrm>
            <a:custGeom>
              <a:avLst/>
              <a:gdLst/>
              <a:ahLst/>
              <a:cxnLst/>
              <a:rect r="r" b="b" t="t" l="l"/>
              <a:pathLst>
                <a:path h="4952746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4952746"/>
                  </a:lnTo>
                  <a:lnTo>
                    <a:pt x="0" y="4952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4412" y="728662"/>
            <a:ext cx="16259175" cy="1927917"/>
            <a:chOff x="0" y="0"/>
            <a:chExt cx="21678900" cy="2570556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1678900" cy="2570607"/>
            </a:xfrm>
            <a:custGeom>
              <a:avLst/>
              <a:gdLst/>
              <a:ahLst/>
              <a:cxnLst/>
              <a:rect r="r" b="b" t="t" l="l"/>
              <a:pathLst>
                <a:path h="2570607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2570607"/>
                  </a:lnTo>
                  <a:lnTo>
                    <a:pt x="0" y="25706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34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43162" y="513455"/>
            <a:ext cx="7858125" cy="1715614"/>
            <a:chOff x="0" y="0"/>
            <a:chExt cx="10477500" cy="2287486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477500" cy="2287524"/>
            </a:xfrm>
            <a:custGeom>
              <a:avLst/>
              <a:gdLst/>
              <a:ahLst/>
              <a:cxnLst/>
              <a:rect r="r" b="b" t="t" l="l"/>
              <a:pathLst>
                <a:path h="2287524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2287524"/>
                  </a:lnTo>
                  <a:lnTo>
                    <a:pt x="0" y="2287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59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673262" y="9324975"/>
            <a:ext cx="26003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Andrés Fernando Salinas Vargas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971675" y="4314935"/>
            <a:ext cx="6780847" cy="414338"/>
            <a:chOff x="0" y="0"/>
            <a:chExt cx="9041130" cy="5524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041130" cy="552450"/>
            </a:xfrm>
            <a:custGeom>
              <a:avLst/>
              <a:gdLst/>
              <a:ahLst/>
              <a:cxnLst/>
              <a:rect r="r" b="b" t="t" l="l"/>
              <a:pathLst>
                <a:path h="552450" w="9041130">
                  <a:moveTo>
                    <a:pt x="0" y="0"/>
                  </a:moveTo>
                  <a:lnTo>
                    <a:pt x="9041130" y="0"/>
                  </a:lnTo>
                  <a:lnTo>
                    <a:pt x="9041130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8882" r="0" b="-2688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904113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2DD4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Sistemas Operativos Móviles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43050" y="4800710"/>
            <a:ext cx="6886575" cy="220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La principal diferencia es que los sistemas operativos móviles están diseñados para dispositivos portátiles como teléfonos y tabletas. Los sistemas móviles priorizan con estricto rigor el ahorro de batería, las pantallas táctiles y el formato rápido de las aplicaciones móviles.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487025" y="4314935"/>
            <a:ext cx="6600825" cy="414338"/>
            <a:chOff x="0" y="0"/>
            <a:chExt cx="8801100" cy="5524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801100" cy="552450"/>
            </a:xfrm>
            <a:custGeom>
              <a:avLst/>
              <a:gdLst/>
              <a:ahLst/>
              <a:cxnLst/>
              <a:rect r="r" b="b" t="t" l="l"/>
              <a:pathLst>
                <a:path h="552450" w="8801100">
                  <a:moveTo>
                    <a:pt x="0" y="0"/>
                  </a:moveTo>
                  <a:lnTo>
                    <a:pt x="8801100" y="0"/>
                  </a:lnTo>
                  <a:lnTo>
                    <a:pt x="8801100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0416" r="0" b="-26041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8801100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2DD4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Sistemas de Computador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886950" y="4800710"/>
            <a:ext cx="6886575" cy="220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Están orientados a equipos de escritorio y computadores portátiles. Ofrecen una capacidad de procesamiento significativamente mayor, multitarea avanzada en tiempo real y un soporte dedicado para software profesional complejo.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43050" y="4350653"/>
            <a:ext cx="257175" cy="342900"/>
            <a:chOff x="0" y="0"/>
            <a:chExt cx="342900" cy="4572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342900" cy="457200"/>
            </a:xfrm>
            <a:custGeom>
              <a:avLst/>
              <a:gdLst/>
              <a:ahLst/>
              <a:cxnLst/>
              <a:rect r="r" b="b" t="t" l="l"/>
              <a:pathLst>
                <a:path h="4572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416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886950" y="4350653"/>
            <a:ext cx="428625" cy="342900"/>
            <a:chOff x="0" y="0"/>
            <a:chExt cx="571500" cy="4572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571500" cy="457200"/>
            </a:xfrm>
            <a:custGeom>
              <a:avLst/>
              <a:gdLst/>
              <a:ahLst/>
              <a:cxnLst/>
              <a:rect r="r" b="b" t="t" l="l"/>
              <a:pathLst>
                <a:path h="4572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416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28700" y="2044957"/>
            <a:ext cx="17072134" cy="853469"/>
            <a:chOff x="0" y="0"/>
            <a:chExt cx="22762845" cy="113795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762845" cy="1137958"/>
            </a:xfrm>
            <a:custGeom>
              <a:avLst/>
              <a:gdLst/>
              <a:ahLst/>
              <a:cxnLst/>
              <a:rect r="r" b="b" t="t" l="l"/>
              <a:pathLst>
                <a:path h="1137958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1137958"/>
                  </a:lnTo>
                  <a:lnTo>
                    <a:pt x="0" y="113795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0423" r="0" b="-32910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22762845" cy="1137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5. Sistemas Móviles vs. Computador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5866" y="3594868"/>
            <a:ext cx="7915275" cy="4125963"/>
            <a:chOff x="0" y="0"/>
            <a:chExt cx="10553700" cy="5501284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0553700" cy="5501259"/>
            </a:xfrm>
            <a:custGeom>
              <a:avLst/>
              <a:gdLst/>
              <a:ahLst/>
              <a:cxnLst/>
              <a:rect r="r" b="b" t="t" l="l"/>
              <a:pathLst>
                <a:path h="5501259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5501259"/>
                  </a:lnTo>
                  <a:lnTo>
                    <a:pt x="0" y="5501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0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59766" y="3594868"/>
            <a:ext cx="7915275" cy="4125963"/>
            <a:chOff x="0" y="0"/>
            <a:chExt cx="10553700" cy="5501284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553700" cy="5501259"/>
            </a:xfrm>
            <a:custGeom>
              <a:avLst/>
              <a:gdLst/>
              <a:ahLst/>
              <a:cxnLst/>
              <a:rect r="r" b="b" t="t" l="l"/>
              <a:pathLst>
                <a:path h="5501259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5501259"/>
                  </a:lnTo>
                  <a:lnTo>
                    <a:pt x="0" y="5501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0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4412" y="728662"/>
            <a:ext cx="16259175" cy="1710033"/>
            <a:chOff x="0" y="0"/>
            <a:chExt cx="21678900" cy="228004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1678900" cy="2280031"/>
            </a:xfrm>
            <a:custGeom>
              <a:avLst/>
              <a:gdLst/>
              <a:ahLst/>
              <a:cxnLst/>
              <a:rect r="r" b="b" t="t" l="l"/>
              <a:pathLst>
                <a:path h="2280031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2280031"/>
                  </a:lnTo>
                  <a:lnTo>
                    <a:pt x="0" y="2280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92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212884" y="3901602"/>
            <a:ext cx="7858125" cy="1522066"/>
            <a:chOff x="0" y="0"/>
            <a:chExt cx="10477500" cy="2029422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477500" cy="2029460"/>
            </a:xfrm>
            <a:custGeom>
              <a:avLst/>
              <a:gdLst/>
              <a:ahLst/>
              <a:cxnLst/>
              <a:rect r="r" b="b" t="t" l="l"/>
              <a:pathLst>
                <a:path h="202946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2029460"/>
                  </a:lnTo>
                  <a:lnTo>
                    <a:pt x="0" y="2029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31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673262" y="9324975"/>
            <a:ext cx="26003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Andrés Fernando Salinas Vargas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201704" y="4109218"/>
            <a:ext cx="6735842" cy="414338"/>
            <a:chOff x="0" y="0"/>
            <a:chExt cx="8981122" cy="5524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81122" cy="552450"/>
            </a:xfrm>
            <a:custGeom>
              <a:avLst/>
              <a:gdLst/>
              <a:ahLst/>
              <a:cxnLst/>
              <a:rect r="r" b="b" t="t" l="l"/>
              <a:pathLst>
                <a:path h="552450" w="8981122">
                  <a:moveTo>
                    <a:pt x="0" y="0"/>
                  </a:moveTo>
                  <a:lnTo>
                    <a:pt x="8981122" y="0"/>
                  </a:lnTo>
                  <a:lnTo>
                    <a:pt x="8981122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6766" r="0" b="-26676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8981122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2DD4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Entorno Windows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30216" y="4594993"/>
            <a:ext cx="6886575" cy="261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Windows es un sistema operativo comercial, ampliamente utilizado en computadores personales por su facilidad de uso y compatibilidad directa con programas de oficina, diseño y videojuegos. Suele ser el entorno más intuitivo y sencillo para usuarios principiantes.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545604" y="4109218"/>
            <a:ext cx="6735842" cy="414338"/>
            <a:chOff x="0" y="0"/>
            <a:chExt cx="8981122" cy="5524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981122" cy="552450"/>
            </a:xfrm>
            <a:custGeom>
              <a:avLst/>
              <a:gdLst/>
              <a:ahLst/>
              <a:cxnLst/>
              <a:rect r="r" b="b" t="t" l="l"/>
              <a:pathLst>
                <a:path h="552450" w="8981122">
                  <a:moveTo>
                    <a:pt x="0" y="0"/>
                  </a:moveTo>
                  <a:lnTo>
                    <a:pt x="8981122" y="0"/>
                  </a:lnTo>
                  <a:lnTo>
                    <a:pt x="8981122" y="552450"/>
                  </a:lnTo>
                  <a:lnTo>
                    <a:pt x="0" y="5524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6766" r="0" b="-26676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8981122" cy="552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2DD4B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Entorno Linux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074116" y="4594993"/>
            <a:ext cx="6886575" cy="261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Por otro lado, Linux es un sistema operativo de código abierto, reconocido mundialmente por su alto estándar de seguridad, estabilidad y flexibilidad extrema. Es la opción preferida en servidores de red, programación y entornos corporativos avanzados, permitiendo una personalización total del sistema.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730216" y="4144937"/>
            <a:ext cx="300038" cy="342900"/>
            <a:chOff x="0" y="0"/>
            <a:chExt cx="400050" cy="4572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400050" cy="457200"/>
            </a:xfrm>
            <a:custGeom>
              <a:avLst/>
              <a:gdLst/>
              <a:ahLst/>
              <a:cxnLst/>
              <a:rect r="r" b="b" t="t" l="l"/>
              <a:pathLst>
                <a:path h="4572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416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074116" y="4144937"/>
            <a:ext cx="300038" cy="342900"/>
            <a:chOff x="0" y="0"/>
            <a:chExt cx="400050" cy="4572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400050" cy="457200"/>
            </a:xfrm>
            <a:custGeom>
              <a:avLst/>
              <a:gdLst/>
              <a:ahLst/>
              <a:cxnLst/>
              <a:rect r="r" b="b" t="t" l="l"/>
              <a:pathLst>
                <a:path h="4572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416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15866" y="2102939"/>
            <a:ext cx="17072134" cy="671512"/>
            <a:chOff x="0" y="0"/>
            <a:chExt cx="22762845" cy="8953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762845" cy="895350"/>
            </a:xfrm>
            <a:custGeom>
              <a:avLst/>
              <a:gdLst/>
              <a:ahLst/>
              <a:cxnLst/>
              <a:rect r="r" b="b" t="t" l="l"/>
              <a:pathLst>
                <a:path h="895350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895350"/>
                  </a:lnTo>
                  <a:lnTo>
                    <a:pt x="0" y="8953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45376" r="0" b="-44537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22762845" cy="895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6. ¿Qué diferencia existe entre Windows y Linux?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188" y="3929062"/>
            <a:ext cx="5181676" cy="3671888"/>
            <a:chOff x="0" y="0"/>
            <a:chExt cx="6908902" cy="489585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6908927" cy="4895850"/>
            </a:xfrm>
            <a:custGeom>
              <a:avLst/>
              <a:gdLst/>
              <a:ahLst/>
              <a:cxnLst/>
              <a:rect r="r" b="b" t="t" l="l"/>
              <a:pathLst>
                <a:path h="489585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4895850"/>
                  </a:lnTo>
                  <a:lnTo>
                    <a:pt x="0" y="4895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6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377051" y="3929062"/>
            <a:ext cx="5181676" cy="3671888"/>
            <a:chOff x="0" y="0"/>
            <a:chExt cx="6908902" cy="48958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908927" cy="4895850"/>
            </a:xfrm>
            <a:custGeom>
              <a:avLst/>
              <a:gdLst/>
              <a:ahLst/>
              <a:cxnLst/>
              <a:rect r="r" b="b" t="t" l="l"/>
              <a:pathLst>
                <a:path h="489585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4895850"/>
                  </a:lnTo>
                  <a:lnTo>
                    <a:pt x="0" y="4895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6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915915" y="3929062"/>
            <a:ext cx="5181676" cy="3671888"/>
            <a:chOff x="0" y="0"/>
            <a:chExt cx="6908902" cy="48958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908927" cy="4895850"/>
            </a:xfrm>
            <a:custGeom>
              <a:avLst/>
              <a:gdLst/>
              <a:ahLst/>
              <a:cxnLst/>
              <a:rect r="r" b="b" t="t" l="l"/>
              <a:pathLst>
                <a:path h="489585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4895850"/>
                  </a:lnTo>
                  <a:lnTo>
                    <a:pt x="0" y="4895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6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14412" y="728662"/>
            <a:ext cx="16259175" cy="1640386"/>
            <a:chOff x="0" y="0"/>
            <a:chExt cx="21678900" cy="2187181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1678900" cy="2187194"/>
            </a:xfrm>
            <a:custGeom>
              <a:avLst/>
              <a:gdLst/>
              <a:ahLst/>
              <a:cxnLst/>
              <a:rect r="r" b="b" t="t" l="l"/>
              <a:pathLst>
                <a:path h="2187194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2187194"/>
                  </a:lnTo>
                  <a:lnTo>
                    <a:pt x="0" y="21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72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443162" y="225923"/>
            <a:ext cx="7858125" cy="1460002"/>
            <a:chOff x="0" y="0"/>
            <a:chExt cx="10477500" cy="1946669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477500" cy="1946656"/>
            </a:xfrm>
            <a:custGeom>
              <a:avLst/>
              <a:gdLst/>
              <a:ahLst/>
              <a:cxnLst/>
              <a:rect r="r" b="b" t="t" l="l"/>
              <a:pathLst>
                <a:path h="1946656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1946656"/>
                  </a:lnTo>
                  <a:lnTo>
                    <a:pt x="0" y="194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79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673262" y="9324975"/>
            <a:ext cx="26003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Andrés Fernando Salinas Vargas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1100" y="5262563"/>
            <a:ext cx="451064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Núcleo (Kernel)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1100" y="5662613"/>
            <a:ext cx="4295851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La capa más profunda. Administra de forma directa todos los elementos del hardware y los procesos lógicos internos fundamentales.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19964" y="5262563"/>
            <a:ext cx="451064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Servicios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19964" y="5662613"/>
            <a:ext cx="4295851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Actúan como canales lógicos y API, facilitando la comunicación entre la capa de hardware y las aplicaciones del usuario.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58828" y="5262563"/>
            <a:ext cx="451064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Interfaz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58828" y="5662613"/>
            <a:ext cx="4295851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Permite la interacción final del usuario con el software mediante ventanas visuales, iconos o consolas de comandos de texto.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81100" y="4457700"/>
            <a:ext cx="514350" cy="514350"/>
            <a:chOff x="0" y="0"/>
            <a:chExt cx="685800" cy="6858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819964" y="4457700"/>
            <a:ext cx="514350" cy="514350"/>
            <a:chOff x="0" y="0"/>
            <a:chExt cx="685800" cy="6858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358828" y="4457700"/>
            <a:ext cx="585788" cy="514350"/>
            <a:chOff x="0" y="0"/>
            <a:chExt cx="781050" cy="6858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781050" cy="685800"/>
            </a:xfrm>
            <a:custGeom>
              <a:avLst/>
              <a:gdLst/>
              <a:ahLst/>
              <a:cxnLst/>
              <a:rect r="r" b="b" t="t" l="l"/>
              <a:pathLst>
                <a:path h="685800" w="781050">
                  <a:moveTo>
                    <a:pt x="0" y="0"/>
                  </a:moveTo>
                  <a:lnTo>
                    <a:pt x="781050" y="0"/>
                  </a:lnTo>
                  <a:lnTo>
                    <a:pt x="7810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38188" y="2369048"/>
            <a:ext cx="17072134" cy="671512"/>
            <a:chOff x="0" y="0"/>
            <a:chExt cx="22762845" cy="8953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762845" cy="895350"/>
            </a:xfrm>
            <a:custGeom>
              <a:avLst/>
              <a:gdLst/>
              <a:ahLst/>
              <a:cxnLst/>
              <a:rect r="r" b="b" t="t" l="l"/>
              <a:pathLst>
                <a:path h="895350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895350"/>
                  </a:lnTo>
                  <a:lnTo>
                    <a:pt x="0" y="89535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445376" r="0" b="-44537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2762845" cy="895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7. ¿Cuántas capas tiene un sistema operativo?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5866" y="3993356"/>
            <a:ext cx="5181676" cy="4014788"/>
            <a:chOff x="0" y="0"/>
            <a:chExt cx="6908902" cy="535305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6908927" cy="5353050"/>
            </a:xfrm>
            <a:custGeom>
              <a:avLst/>
              <a:gdLst/>
              <a:ahLst/>
              <a:cxnLst/>
              <a:rect r="r" b="b" t="t" l="l"/>
              <a:pathLst>
                <a:path h="535305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5353050"/>
                  </a:lnTo>
                  <a:lnTo>
                    <a:pt x="0" y="5353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6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754730" y="3993356"/>
            <a:ext cx="5181676" cy="4014788"/>
            <a:chOff x="0" y="0"/>
            <a:chExt cx="6908902" cy="5353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908927" cy="5353050"/>
            </a:xfrm>
            <a:custGeom>
              <a:avLst/>
              <a:gdLst/>
              <a:ahLst/>
              <a:cxnLst/>
              <a:rect r="r" b="b" t="t" l="l"/>
              <a:pathLst>
                <a:path h="535305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5353050"/>
                  </a:lnTo>
                  <a:lnTo>
                    <a:pt x="0" y="5353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6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93594" y="3993356"/>
            <a:ext cx="5181676" cy="4014788"/>
            <a:chOff x="0" y="0"/>
            <a:chExt cx="6908902" cy="53530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908927" cy="5353050"/>
            </a:xfrm>
            <a:custGeom>
              <a:avLst/>
              <a:gdLst/>
              <a:ahLst/>
              <a:cxnLst/>
              <a:rect r="r" b="b" t="t" l="l"/>
              <a:pathLst>
                <a:path h="5353050" w="6908927">
                  <a:moveTo>
                    <a:pt x="0" y="0"/>
                  </a:moveTo>
                  <a:lnTo>
                    <a:pt x="6908927" y="0"/>
                  </a:lnTo>
                  <a:lnTo>
                    <a:pt x="6908927" y="5353050"/>
                  </a:lnTo>
                  <a:lnTo>
                    <a:pt x="0" y="5353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6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14412" y="728662"/>
            <a:ext cx="16259175" cy="1406204"/>
            <a:chOff x="0" y="0"/>
            <a:chExt cx="21678900" cy="1874939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1678900" cy="1874901"/>
            </a:xfrm>
            <a:custGeom>
              <a:avLst/>
              <a:gdLst/>
              <a:ahLst/>
              <a:cxnLst/>
              <a:rect r="r" b="b" t="t" l="l"/>
              <a:pathLst>
                <a:path h="1874901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1874901"/>
                  </a:lnTo>
                  <a:lnTo>
                    <a:pt x="0" y="1874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42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212884" y="3885086"/>
            <a:ext cx="7858125" cy="1251271"/>
            <a:chOff x="0" y="0"/>
            <a:chExt cx="10477500" cy="1668361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477500" cy="1668399"/>
            </a:xfrm>
            <a:custGeom>
              <a:avLst/>
              <a:gdLst/>
              <a:ahLst/>
              <a:cxnLst/>
              <a:rect r="r" b="b" t="t" l="l"/>
              <a:pathLst>
                <a:path h="1668399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1668399"/>
                  </a:lnTo>
                  <a:lnTo>
                    <a:pt x="0" y="1668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62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15866" y="3298031"/>
            <a:ext cx="16259175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Normalmente se consideran cuatro pilares principales: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673262" y="9324975"/>
            <a:ext cx="2600325" cy="233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Andrés Fernando Salinas Vargas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58779" y="5326856"/>
            <a:ext cx="451064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Administración de sistema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8779" y="5726906"/>
            <a:ext cx="4295851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Controla los componentes físicos, periféricos de entrada/salida y las estructuras lógicas internas del hardware.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97642" y="5326856"/>
            <a:ext cx="451064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Administración de aplicación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97642" y="6069806"/>
            <a:ext cx="4295851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Se encarga de inicializar, asignar memoria y controlar la ejecución estable de todas las aplicaciones de usuario.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36506" y="5326856"/>
            <a:ext cx="451064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2250">
                <a:solidFill>
                  <a:srgbClr val="F8FAF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Administración de programación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36506" y="6069806"/>
            <a:ext cx="4295851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Organiza los hilos de ejecución, planifica los ciclos del procesador y administra los flujos de código del sistema.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58779" y="4521994"/>
            <a:ext cx="585788" cy="514350"/>
            <a:chOff x="0" y="0"/>
            <a:chExt cx="781050" cy="6858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781050" cy="685800"/>
            </a:xfrm>
            <a:custGeom>
              <a:avLst/>
              <a:gdLst/>
              <a:ahLst/>
              <a:cxnLst/>
              <a:rect r="r" b="b" t="t" l="l"/>
              <a:pathLst>
                <a:path h="685800" w="781050">
                  <a:moveTo>
                    <a:pt x="0" y="0"/>
                  </a:moveTo>
                  <a:lnTo>
                    <a:pt x="781050" y="0"/>
                  </a:lnTo>
                  <a:lnTo>
                    <a:pt x="7810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197642" y="4521994"/>
            <a:ext cx="514350" cy="514350"/>
            <a:chOff x="0" y="0"/>
            <a:chExt cx="685800" cy="6858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736506" y="4521994"/>
            <a:ext cx="642938" cy="514350"/>
            <a:chOff x="0" y="0"/>
            <a:chExt cx="857250" cy="6858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857250" cy="685800"/>
            </a:xfrm>
            <a:custGeom>
              <a:avLst/>
              <a:gdLst/>
              <a:ahLst/>
              <a:cxnLst/>
              <a:rect r="r" b="b" t="t" l="l"/>
              <a:pathLst>
                <a:path h="685800" w="857250">
                  <a:moveTo>
                    <a:pt x="0" y="0"/>
                  </a:moveTo>
                  <a:lnTo>
                    <a:pt x="857250" y="0"/>
                  </a:lnTo>
                  <a:lnTo>
                    <a:pt x="85725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15866" y="1816894"/>
            <a:ext cx="17072134" cy="671512"/>
            <a:chOff x="0" y="0"/>
            <a:chExt cx="22762845" cy="8953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762845" cy="895350"/>
            </a:xfrm>
            <a:custGeom>
              <a:avLst/>
              <a:gdLst/>
              <a:ahLst/>
              <a:cxnLst/>
              <a:rect r="r" b="b" t="t" l="l"/>
              <a:pathLst>
                <a:path h="895350" w="22762845">
                  <a:moveTo>
                    <a:pt x="0" y="0"/>
                  </a:moveTo>
                  <a:lnTo>
                    <a:pt x="22762845" y="0"/>
                  </a:lnTo>
                  <a:lnTo>
                    <a:pt x="22762845" y="895350"/>
                  </a:lnTo>
                  <a:lnTo>
                    <a:pt x="0" y="89535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445376" r="0" b="-44537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2762845" cy="895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>
                  <a:solidFill>
                    <a:srgbClr val="F8FAF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8. Pilares de un sistema operativo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4412" y="728662"/>
            <a:ext cx="16259175" cy="1228277"/>
            <a:chOff x="0" y="0"/>
            <a:chExt cx="21678900" cy="1637703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1678900" cy="1637665"/>
            </a:xfrm>
            <a:custGeom>
              <a:avLst/>
              <a:gdLst/>
              <a:ahLst/>
              <a:cxnLst/>
              <a:rect r="r" b="b" t="t" l="l"/>
              <a:pathLst>
                <a:path h="1637665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1637665"/>
                  </a:lnTo>
                  <a:lnTo>
                    <a:pt x="0" y="1637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02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443162" y="1428531"/>
            <a:ext cx="7858125" cy="1093213"/>
            <a:chOff x="0" y="0"/>
            <a:chExt cx="10477500" cy="1457617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77500" cy="1457579"/>
            </a:xfrm>
            <a:custGeom>
              <a:avLst/>
              <a:gdLst/>
              <a:ahLst/>
              <a:cxnLst/>
              <a:rect r="r" b="b" t="t" l="l"/>
              <a:pathLst>
                <a:path h="1457579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1457579"/>
                  </a:lnTo>
                  <a:lnTo>
                    <a:pt x="0" y="14575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94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414338" y="7522369"/>
            <a:ext cx="7858125" cy="1093213"/>
            <a:chOff x="0" y="0"/>
            <a:chExt cx="10477500" cy="1457617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477500" cy="1457579"/>
            </a:xfrm>
            <a:custGeom>
              <a:avLst/>
              <a:gdLst/>
              <a:ahLst/>
              <a:cxnLst/>
              <a:rect r="r" b="b" t="t" l="l"/>
              <a:pathLst>
                <a:path h="1457579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1457579"/>
                  </a:lnTo>
                  <a:lnTo>
                    <a:pt x="0" y="14575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94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1856" y="4329003"/>
            <a:ext cx="11444288" cy="1628994"/>
            <a:chOff x="0" y="0"/>
            <a:chExt cx="15259050" cy="217199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59050" cy="2171954"/>
            </a:xfrm>
            <a:custGeom>
              <a:avLst/>
              <a:gdLst/>
              <a:ahLst/>
              <a:cxnLst/>
              <a:rect r="r" b="b" t="t" l="l"/>
              <a:pathLst>
                <a:path h="2171954" w="15259050">
                  <a:moveTo>
                    <a:pt x="0" y="960882"/>
                  </a:moveTo>
                  <a:cubicBezTo>
                    <a:pt x="0" y="430276"/>
                    <a:pt x="430276" y="0"/>
                    <a:pt x="960882" y="0"/>
                  </a:cubicBezTo>
                  <a:lnTo>
                    <a:pt x="14298168" y="0"/>
                  </a:lnTo>
                  <a:cubicBezTo>
                    <a:pt x="14828901" y="0"/>
                    <a:pt x="15259050" y="430276"/>
                    <a:pt x="15259050" y="960882"/>
                  </a:cubicBezTo>
                  <a:lnTo>
                    <a:pt x="15259050" y="1211072"/>
                  </a:lnTo>
                  <a:cubicBezTo>
                    <a:pt x="15259050" y="1741805"/>
                    <a:pt x="14828774" y="2171954"/>
                    <a:pt x="14298168" y="2171954"/>
                  </a:cubicBezTo>
                  <a:lnTo>
                    <a:pt x="960882" y="2171954"/>
                  </a:lnTo>
                  <a:cubicBezTo>
                    <a:pt x="430276" y="2171954"/>
                    <a:pt x="0" y="1741805"/>
                    <a:pt x="0" y="1211072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6891" r="0" b="-86892"/>
              </a:stretch>
            </a:blipFill>
            <a:ln w="14288" cap="sq">
              <a:solidFill>
                <a:srgbClr val="2DD4BF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4711779" y="4819650"/>
            <a:ext cx="886444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9"/>
              </a:lnSpc>
            </a:pPr>
            <a:r>
              <a:rPr lang="en-US" sz="4399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Muchas gracias por su atención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DAHKRMVzFEg</dc:identifier>
  <dcterms:modified xsi:type="dcterms:W3CDTF">2011-08-01T06:04:30Z</dcterms:modified>
  <cp:revision>1</cp:revision>
  <dc:title>Exposicion Sistemas Operativos (1).pptx</dc:title>
</cp:coreProperties>
</file>